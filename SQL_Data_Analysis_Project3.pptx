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3"/>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E33"/>
          </a:solidFill>
          <a:ln/>
        </p:spPr>
      </p:sp>
      <p:sp>
        <p:nvSpPr>
          <p:cNvPr id="3" name="Shape 1"/>
          <p:cNvSpPr/>
          <p:nvPr/>
        </p:nvSpPr>
        <p:spPr>
          <a:xfrm>
            <a:off x="9692640" y="548640"/>
            <a:ext cx="64008" cy="64008"/>
          </a:xfrm>
          <a:prstGeom prst="ellipse">
            <a:avLst/>
          </a:prstGeom>
          <a:solidFill>
            <a:srgbClr val="1F3B57"/>
          </a:solidFill>
          <a:ln/>
        </p:spPr>
      </p:sp>
      <p:sp>
        <p:nvSpPr>
          <p:cNvPr id="4" name="Shape 2"/>
          <p:cNvSpPr/>
          <p:nvPr/>
        </p:nvSpPr>
        <p:spPr>
          <a:xfrm>
            <a:off x="10012680" y="548640"/>
            <a:ext cx="64008" cy="64008"/>
          </a:xfrm>
          <a:prstGeom prst="ellipse">
            <a:avLst/>
          </a:prstGeom>
          <a:solidFill>
            <a:srgbClr val="1F3B57"/>
          </a:solidFill>
          <a:ln/>
        </p:spPr>
      </p:sp>
      <p:sp>
        <p:nvSpPr>
          <p:cNvPr id="5" name="Shape 3"/>
          <p:cNvSpPr/>
          <p:nvPr/>
        </p:nvSpPr>
        <p:spPr>
          <a:xfrm>
            <a:off x="10332720" y="548640"/>
            <a:ext cx="64008" cy="64008"/>
          </a:xfrm>
          <a:prstGeom prst="ellipse">
            <a:avLst/>
          </a:prstGeom>
          <a:solidFill>
            <a:srgbClr val="1F3B57"/>
          </a:solidFill>
          <a:ln/>
        </p:spPr>
      </p:sp>
      <p:sp>
        <p:nvSpPr>
          <p:cNvPr id="6" name="Shape 4"/>
          <p:cNvSpPr/>
          <p:nvPr/>
        </p:nvSpPr>
        <p:spPr>
          <a:xfrm>
            <a:off x="9692640" y="868680"/>
            <a:ext cx="64008" cy="64008"/>
          </a:xfrm>
          <a:prstGeom prst="ellipse">
            <a:avLst/>
          </a:prstGeom>
          <a:solidFill>
            <a:srgbClr val="1F3B57"/>
          </a:solidFill>
          <a:ln/>
        </p:spPr>
      </p:sp>
      <p:sp>
        <p:nvSpPr>
          <p:cNvPr id="7" name="Shape 5"/>
          <p:cNvSpPr/>
          <p:nvPr/>
        </p:nvSpPr>
        <p:spPr>
          <a:xfrm>
            <a:off x="10012680" y="868680"/>
            <a:ext cx="64008" cy="64008"/>
          </a:xfrm>
          <a:prstGeom prst="ellipse">
            <a:avLst/>
          </a:prstGeom>
          <a:solidFill>
            <a:srgbClr val="1F3B57"/>
          </a:solidFill>
          <a:ln/>
        </p:spPr>
      </p:sp>
      <p:sp>
        <p:nvSpPr>
          <p:cNvPr id="8" name="Shape 6"/>
          <p:cNvSpPr/>
          <p:nvPr/>
        </p:nvSpPr>
        <p:spPr>
          <a:xfrm>
            <a:off x="10332720" y="868680"/>
            <a:ext cx="64008" cy="64008"/>
          </a:xfrm>
          <a:prstGeom prst="ellipse">
            <a:avLst/>
          </a:prstGeom>
          <a:solidFill>
            <a:srgbClr val="1F3B57"/>
          </a:solidFill>
          <a:ln/>
        </p:spPr>
      </p:sp>
      <p:sp>
        <p:nvSpPr>
          <p:cNvPr id="9" name="Text 7"/>
          <p:cNvSpPr/>
          <p:nvPr/>
        </p:nvSpPr>
        <p:spPr>
          <a:xfrm>
            <a:off x="640080" y="2331720"/>
            <a:ext cx="7315200" cy="320040"/>
          </a:xfrm>
          <a:prstGeom prst="rect">
            <a:avLst/>
          </a:prstGeom>
          <a:noFill/>
          <a:ln/>
        </p:spPr>
        <p:txBody>
          <a:bodyPr wrap="square" rtlCol="0" anchor="ctr"/>
          <a:lstStyle/>
          <a:p>
            <a:pPr indent="0" marL="0">
              <a:buNone/>
            </a:pPr>
            <a:r>
              <a:rPr lang="en-US" sz="1300" b="1" spc="300" kern="0" dirty="0">
                <a:solidFill>
                  <a:srgbClr val="2DD4BF"/>
                </a:solidFill>
                <a:latin typeface="Consolas" pitchFamily="34" charset="0"/>
                <a:ea typeface="Consolas" pitchFamily="34" charset="-122"/>
                <a:cs typeface="Consolas" pitchFamily="34" charset="-120"/>
              </a:rPr>
              <a:t>DECODELABS  ·  BATCH 2026</a:t>
            </a:r>
            <a:endParaRPr lang="en-US" sz="1300" dirty="0"/>
          </a:p>
        </p:txBody>
      </p:sp>
      <p:sp>
        <p:nvSpPr>
          <p:cNvPr id="10" name="Text 8"/>
          <p:cNvSpPr/>
          <p:nvPr/>
        </p:nvSpPr>
        <p:spPr>
          <a:xfrm>
            <a:off x="594360" y="2651760"/>
            <a:ext cx="10058400" cy="128016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SQL Data Analysis</a:t>
            </a:r>
            <a:endParaRPr lang="en-US" sz="5400" dirty="0"/>
          </a:p>
        </p:txBody>
      </p:sp>
      <p:sp>
        <p:nvSpPr>
          <p:cNvPr id="11" name="Text 9"/>
          <p:cNvSpPr/>
          <p:nvPr/>
        </p:nvSpPr>
        <p:spPr>
          <a:xfrm>
            <a:off x="640080" y="3794760"/>
            <a:ext cx="8229600" cy="548640"/>
          </a:xfrm>
          <a:prstGeom prst="rect">
            <a:avLst/>
          </a:prstGeom>
          <a:noFill/>
          <a:ln/>
        </p:spPr>
        <p:txBody>
          <a:bodyPr wrap="square" rtlCol="0" anchor="ctr"/>
          <a:lstStyle/>
          <a:p>
            <a:pPr indent="0" marL="0">
              <a:buNone/>
            </a:pPr>
            <a:r>
              <a:rPr lang="en-US" sz="2000" i="1" dirty="0">
                <a:solidFill>
                  <a:srgbClr val="9FB3C8"/>
                </a:solidFill>
                <a:latin typeface="Georgia" pitchFamily="34" charset="0"/>
                <a:ea typeface="Georgia" pitchFamily="34" charset="-122"/>
                <a:cs typeface="Georgia" pitchFamily="34" charset="-120"/>
              </a:rPr>
              <a:t>Project 3 — Querying for Truth</a:t>
            </a:r>
            <a:endParaRPr lang="en-US" sz="2000" dirty="0"/>
          </a:p>
        </p:txBody>
      </p:sp>
      <p:sp>
        <p:nvSpPr>
          <p:cNvPr id="12" name="Shape 10"/>
          <p:cNvSpPr/>
          <p:nvPr/>
        </p:nvSpPr>
        <p:spPr>
          <a:xfrm>
            <a:off x="640080" y="4434840"/>
            <a:ext cx="2011680" cy="0"/>
          </a:xfrm>
          <a:prstGeom prst="line">
            <a:avLst/>
          </a:prstGeom>
          <a:noFill/>
          <a:ln w="38100">
            <a:solidFill>
              <a:srgbClr val="F5A524"/>
            </a:solidFill>
            <a:prstDash val="solid"/>
          </a:ln>
        </p:spPr>
      </p:sp>
      <p:sp>
        <p:nvSpPr>
          <p:cNvPr id="13" name="Text 11"/>
          <p:cNvSpPr/>
          <p:nvPr/>
        </p:nvSpPr>
        <p:spPr>
          <a:xfrm>
            <a:off x="640080" y="4617720"/>
            <a:ext cx="8686800" cy="640080"/>
          </a:xfrm>
          <a:prstGeom prst="rect">
            <a:avLst/>
          </a:prstGeom>
          <a:noFill/>
          <a:ln/>
        </p:spPr>
        <p:txBody>
          <a:bodyPr wrap="square" rtlCol="0" anchor="ctr"/>
          <a:lstStyle/>
          <a:p>
            <a:pPr indent="0" marL="0">
              <a:buNone/>
            </a:pPr>
            <a:r>
              <a:rPr lang="en-US" sz="1350" dirty="0">
                <a:solidFill>
                  <a:srgbClr val="9FB3C8"/>
                </a:solidFill>
                <a:latin typeface="Calibri" pitchFamily="34" charset="0"/>
                <a:ea typeface="Calibri" pitchFamily="34" charset="-122"/>
                <a:cs typeface="Calibri" pitchFamily="34" charset="-120"/>
              </a:rPr>
              <a:t>Data Analytics dataset  ·  Solved in Python with pandas — SELECT, WHERE, ORDER BY, GROUP BY and aggregate logic applied without a SQL engine</a:t>
            </a:r>
            <a:endParaRPr lang="en-US" sz="1350" dirty="0"/>
          </a:p>
        </p:txBody>
      </p:sp>
      <p:sp>
        <p:nvSpPr>
          <p:cNvPr id="14" name="Text 12"/>
          <p:cNvSpPr/>
          <p:nvPr/>
        </p:nvSpPr>
        <p:spPr>
          <a:xfrm>
            <a:off x="640080" y="6126480"/>
            <a:ext cx="5486400" cy="320040"/>
          </a:xfrm>
          <a:prstGeom prst="rect">
            <a:avLst/>
          </a:prstGeom>
          <a:noFill/>
          <a:ln/>
        </p:spPr>
        <p:txBody>
          <a:bodyPr wrap="square" rtlCol="0" anchor="ctr"/>
          <a:lstStyle/>
          <a:p>
            <a:pPr indent="0" marL="0">
              <a:buNone/>
            </a:pPr>
            <a:r>
              <a:rPr lang="en-US" sz="1100" dirty="0">
                <a:solidFill>
                  <a:srgbClr val="5E7A94"/>
                </a:solidFill>
                <a:latin typeface="Calibri" pitchFamily="34" charset="0"/>
                <a:ea typeface="Calibri" pitchFamily="34" charset="-122"/>
                <a:cs typeface="Calibri" pitchFamily="34" charset="-120"/>
              </a:rPr>
              <a:t>Prepared for internal review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DD4BF"/>
                </a:solidFill>
                <a:latin typeface="Consolas" pitchFamily="34" charset="0"/>
                <a:ea typeface="Consolas" pitchFamily="34" charset="-122"/>
                <a:cs typeface="Consolas" pitchFamily="34" charset="-120"/>
              </a:rPr>
              <a:t>PROJECT OBJECTIVE</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Turn raw order records into decisions</a:t>
            </a:r>
            <a:endParaRPr lang="en-US" sz="3000" dirty="0"/>
          </a:p>
        </p:txBody>
      </p:sp>
      <p:sp>
        <p:nvSpPr>
          <p:cNvPr id="4" name="Text 2"/>
          <p:cNvSpPr/>
          <p:nvPr/>
        </p:nvSpPr>
        <p:spPr>
          <a:xfrm>
            <a:off x="548640" y="1600200"/>
            <a:ext cx="5486400" cy="1600200"/>
          </a:xfrm>
          <a:prstGeom prst="rect">
            <a:avLst/>
          </a:prstGeom>
          <a:noFill/>
          <a:ln/>
        </p:spPr>
        <p:txBody>
          <a:bodyPr wrap="square" rtlCol="0" anchor="ctr"/>
          <a:lstStyle/>
          <a:p>
            <a:pPr indent="0" marL="0">
              <a:lnSpc>
                <a:spcPct val="130000"/>
              </a:lnSpc>
              <a:buNone/>
            </a:pPr>
            <a:r>
              <a:rPr lang="en-US" sz="1450" dirty="0">
                <a:solidFill>
                  <a:srgbClr val="2A3A4A"/>
                </a:solidFill>
                <a:latin typeface="Calibri" pitchFamily="34" charset="0"/>
                <a:ea typeface="Calibri" pitchFamily="34" charset="-122"/>
                <a:cs typeface="Calibri" pitchFamily="34" charset="-120"/>
              </a:rPr>
              <a:t>The dataset is a table of e-commerce orders. The brief calls for SQL fundamentals — filtering, sorting, grouping, and aggregation. This solution builds each of those in Python with pandas, so the logic runs without a database engine.</a:t>
            </a:r>
            <a:endParaRPr lang="en-US" sz="1450" dirty="0"/>
          </a:p>
        </p:txBody>
      </p:sp>
      <p:sp>
        <p:nvSpPr>
          <p:cNvPr id="5" name="Shape 3"/>
          <p:cNvSpPr/>
          <p:nvPr/>
        </p:nvSpPr>
        <p:spPr>
          <a:xfrm>
            <a:off x="6400800" y="1600200"/>
            <a:ext cx="5212080" cy="1051560"/>
          </a:xfrm>
          <a:prstGeom prst="roundRect">
            <a:avLst>
              <a:gd name="adj" fmla="val 5217"/>
            </a:avLst>
          </a:prstGeom>
          <a:solidFill>
            <a:srgbClr val="F4F7FA"/>
          </a:solidFill>
          <a:ln/>
        </p:spPr>
      </p:sp>
      <p:sp>
        <p:nvSpPr>
          <p:cNvPr id="6" name="Shape 4"/>
          <p:cNvSpPr/>
          <p:nvPr/>
        </p:nvSpPr>
        <p:spPr>
          <a:xfrm>
            <a:off x="6629400" y="2020824"/>
            <a:ext cx="109728" cy="109728"/>
          </a:xfrm>
          <a:prstGeom prst="ellipse">
            <a:avLst/>
          </a:prstGeom>
          <a:solidFill>
            <a:srgbClr val="2DD4BF"/>
          </a:solidFill>
          <a:ln/>
        </p:spPr>
      </p:sp>
      <p:sp>
        <p:nvSpPr>
          <p:cNvPr id="7" name="Text 5"/>
          <p:cNvSpPr/>
          <p:nvPr/>
        </p:nvSpPr>
        <p:spPr>
          <a:xfrm>
            <a:off x="6858000" y="1709928"/>
            <a:ext cx="4480560" cy="320040"/>
          </a:xfrm>
          <a:prstGeom prst="rect">
            <a:avLst/>
          </a:prstGeom>
          <a:noFill/>
          <a:ln/>
        </p:spPr>
        <p:txBody>
          <a:bodyPr wrap="square" rtlCol="0" anchor="ctr"/>
          <a:lstStyle/>
          <a:p>
            <a:pPr indent="0" marL="0">
              <a:buNone/>
            </a:pPr>
            <a:r>
              <a:rPr lang="en-US" sz="1500" b="1" dirty="0">
                <a:solidFill>
                  <a:srgbClr val="112A45"/>
                </a:solidFill>
                <a:latin typeface="Calibri" pitchFamily="34" charset="0"/>
                <a:ea typeface="Calibri" pitchFamily="34" charset="-122"/>
                <a:cs typeface="Calibri" pitchFamily="34" charset="-120"/>
              </a:rPr>
              <a:t>Filter</a:t>
            </a:r>
            <a:endParaRPr lang="en-US" sz="1500" dirty="0"/>
          </a:p>
        </p:txBody>
      </p:sp>
      <p:sp>
        <p:nvSpPr>
          <p:cNvPr id="8" name="Text 6"/>
          <p:cNvSpPr/>
          <p:nvPr/>
        </p:nvSpPr>
        <p:spPr>
          <a:xfrm>
            <a:off x="6858000" y="2057400"/>
            <a:ext cx="4572000" cy="502920"/>
          </a:xfrm>
          <a:prstGeom prst="rect">
            <a:avLst/>
          </a:prstGeom>
          <a:noFill/>
          <a:ln/>
        </p:spPr>
        <p:txBody>
          <a:bodyPr wrap="square" rtlCol="0" anchor="ctr"/>
          <a:lstStyle/>
          <a:p>
            <a:pPr indent="0" marL="0">
              <a:buNone/>
            </a:pPr>
            <a:r>
              <a:rPr lang="en-US" sz="1150" dirty="0">
                <a:solidFill>
                  <a:srgbClr val="50606F"/>
                </a:solidFill>
                <a:latin typeface="Calibri" pitchFamily="34" charset="0"/>
                <a:ea typeface="Calibri" pitchFamily="34" charset="-122"/>
                <a:cs typeface="Calibri" pitchFamily="34" charset="-120"/>
              </a:rPr>
              <a:t>WHERE-equivalent conditions to isolate high-value and delivered orders</a:t>
            </a:r>
            <a:endParaRPr lang="en-US" sz="1150" dirty="0"/>
          </a:p>
        </p:txBody>
      </p:sp>
      <p:sp>
        <p:nvSpPr>
          <p:cNvPr id="9" name="Shape 7"/>
          <p:cNvSpPr/>
          <p:nvPr/>
        </p:nvSpPr>
        <p:spPr>
          <a:xfrm>
            <a:off x="6400800" y="2788920"/>
            <a:ext cx="5212080" cy="1051560"/>
          </a:xfrm>
          <a:prstGeom prst="roundRect">
            <a:avLst>
              <a:gd name="adj" fmla="val 5217"/>
            </a:avLst>
          </a:prstGeom>
          <a:solidFill>
            <a:srgbClr val="F4F7FA"/>
          </a:solidFill>
          <a:ln/>
        </p:spPr>
      </p:sp>
      <p:sp>
        <p:nvSpPr>
          <p:cNvPr id="10" name="Shape 8"/>
          <p:cNvSpPr/>
          <p:nvPr/>
        </p:nvSpPr>
        <p:spPr>
          <a:xfrm>
            <a:off x="6629400" y="3209544"/>
            <a:ext cx="109728" cy="109728"/>
          </a:xfrm>
          <a:prstGeom prst="ellipse">
            <a:avLst/>
          </a:prstGeom>
          <a:solidFill>
            <a:srgbClr val="F5A524"/>
          </a:solidFill>
          <a:ln/>
        </p:spPr>
      </p:sp>
      <p:sp>
        <p:nvSpPr>
          <p:cNvPr id="11" name="Text 9"/>
          <p:cNvSpPr/>
          <p:nvPr/>
        </p:nvSpPr>
        <p:spPr>
          <a:xfrm>
            <a:off x="6858000" y="2898648"/>
            <a:ext cx="4480560" cy="320040"/>
          </a:xfrm>
          <a:prstGeom prst="rect">
            <a:avLst/>
          </a:prstGeom>
          <a:noFill/>
          <a:ln/>
        </p:spPr>
        <p:txBody>
          <a:bodyPr wrap="square" rtlCol="0" anchor="ctr"/>
          <a:lstStyle/>
          <a:p>
            <a:pPr indent="0" marL="0">
              <a:buNone/>
            </a:pPr>
            <a:r>
              <a:rPr lang="en-US" sz="1500" b="1" dirty="0">
                <a:solidFill>
                  <a:srgbClr val="112A45"/>
                </a:solidFill>
                <a:latin typeface="Calibri" pitchFamily="34" charset="0"/>
                <a:ea typeface="Calibri" pitchFamily="34" charset="-122"/>
                <a:cs typeface="Calibri" pitchFamily="34" charset="-120"/>
              </a:rPr>
              <a:t>Sort</a:t>
            </a:r>
            <a:endParaRPr lang="en-US" sz="1500" dirty="0"/>
          </a:p>
        </p:txBody>
      </p:sp>
      <p:sp>
        <p:nvSpPr>
          <p:cNvPr id="12" name="Text 10"/>
          <p:cNvSpPr/>
          <p:nvPr/>
        </p:nvSpPr>
        <p:spPr>
          <a:xfrm>
            <a:off x="6858000" y="3246120"/>
            <a:ext cx="4572000" cy="502920"/>
          </a:xfrm>
          <a:prstGeom prst="rect">
            <a:avLst/>
          </a:prstGeom>
          <a:noFill/>
          <a:ln/>
        </p:spPr>
        <p:txBody>
          <a:bodyPr wrap="square" rtlCol="0" anchor="ctr"/>
          <a:lstStyle/>
          <a:p>
            <a:pPr indent="0" marL="0">
              <a:buNone/>
            </a:pPr>
            <a:r>
              <a:rPr lang="en-US" sz="1150" dirty="0">
                <a:solidFill>
                  <a:srgbClr val="50606F"/>
                </a:solidFill>
                <a:latin typeface="Calibri" pitchFamily="34" charset="0"/>
                <a:ea typeface="Calibri" pitchFamily="34" charset="-122"/>
                <a:cs typeface="Calibri" pitchFamily="34" charset="-120"/>
              </a:rPr>
              <a:t>ORDER BY-equivalent ranking of orders by revenue</a:t>
            </a:r>
            <a:endParaRPr lang="en-US" sz="1150" dirty="0"/>
          </a:p>
        </p:txBody>
      </p:sp>
      <p:sp>
        <p:nvSpPr>
          <p:cNvPr id="13" name="Shape 11"/>
          <p:cNvSpPr/>
          <p:nvPr/>
        </p:nvSpPr>
        <p:spPr>
          <a:xfrm>
            <a:off x="6400800" y="3977640"/>
            <a:ext cx="5212080" cy="1051560"/>
          </a:xfrm>
          <a:prstGeom prst="roundRect">
            <a:avLst>
              <a:gd name="adj" fmla="val 5217"/>
            </a:avLst>
          </a:prstGeom>
          <a:solidFill>
            <a:srgbClr val="F4F7FA"/>
          </a:solidFill>
          <a:ln/>
        </p:spPr>
      </p:sp>
      <p:sp>
        <p:nvSpPr>
          <p:cNvPr id="14" name="Shape 12"/>
          <p:cNvSpPr/>
          <p:nvPr/>
        </p:nvSpPr>
        <p:spPr>
          <a:xfrm>
            <a:off x="6629400" y="4398264"/>
            <a:ext cx="109728" cy="109728"/>
          </a:xfrm>
          <a:prstGeom prst="ellipse">
            <a:avLst/>
          </a:prstGeom>
          <a:solidFill>
            <a:srgbClr val="5B8DEF"/>
          </a:solidFill>
          <a:ln/>
        </p:spPr>
      </p:sp>
      <p:sp>
        <p:nvSpPr>
          <p:cNvPr id="15" name="Text 13"/>
          <p:cNvSpPr/>
          <p:nvPr/>
        </p:nvSpPr>
        <p:spPr>
          <a:xfrm>
            <a:off x="6858000" y="4087368"/>
            <a:ext cx="4480560" cy="320040"/>
          </a:xfrm>
          <a:prstGeom prst="rect">
            <a:avLst/>
          </a:prstGeom>
          <a:noFill/>
          <a:ln/>
        </p:spPr>
        <p:txBody>
          <a:bodyPr wrap="square" rtlCol="0" anchor="ctr"/>
          <a:lstStyle/>
          <a:p>
            <a:pPr indent="0" marL="0">
              <a:buNone/>
            </a:pPr>
            <a:r>
              <a:rPr lang="en-US" sz="1500" b="1" dirty="0">
                <a:solidFill>
                  <a:srgbClr val="112A45"/>
                </a:solidFill>
                <a:latin typeface="Calibri" pitchFamily="34" charset="0"/>
                <a:ea typeface="Calibri" pitchFamily="34" charset="-122"/>
                <a:cs typeface="Calibri" pitchFamily="34" charset="-120"/>
              </a:rPr>
              <a:t>Group</a:t>
            </a:r>
            <a:endParaRPr lang="en-US" sz="1500" dirty="0"/>
          </a:p>
        </p:txBody>
      </p:sp>
      <p:sp>
        <p:nvSpPr>
          <p:cNvPr id="16" name="Text 14"/>
          <p:cNvSpPr/>
          <p:nvPr/>
        </p:nvSpPr>
        <p:spPr>
          <a:xfrm>
            <a:off x="6858000" y="4434840"/>
            <a:ext cx="4572000" cy="502920"/>
          </a:xfrm>
          <a:prstGeom prst="rect">
            <a:avLst/>
          </a:prstGeom>
          <a:noFill/>
          <a:ln/>
        </p:spPr>
        <p:txBody>
          <a:bodyPr wrap="square" rtlCol="0" anchor="ctr"/>
          <a:lstStyle/>
          <a:p>
            <a:pPr indent="0" marL="0">
              <a:buNone/>
            </a:pPr>
            <a:r>
              <a:rPr lang="en-US" sz="1150" dirty="0">
                <a:solidFill>
                  <a:srgbClr val="50606F"/>
                </a:solidFill>
                <a:latin typeface="Calibri" pitchFamily="34" charset="0"/>
                <a:ea typeface="Calibri" pitchFamily="34" charset="-122"/>
                <a:cs typeface="Calibri" pitchFamily="34" charset="-120"/>
              </a:rPr>
              <a:t>GROUP BY-equivalent buckets: product, payment method, referral source, coupon</a:t>
            </a:r>
            <a:endParaRPr lang="en-US" sz="1150" dirty="0"/>
          </a:p>
        </p:txBody>
      </p:sp>
      <p:sp>
        <p:nvSpPr>
          <p:cNvPr id="17" name="Shape 15"/>
          <p:cNvSpPr/>
          <p:nvPr/>
        </p:nvSpPr>
        <p:spPr>
          <a:xfrm>
            <a:off x="6400800" y="5166360"/>
            <a:ext cx="5212080" cy="1051560"/>
          </a:xfrm>
          <a:prstGeom prst="roundRect">
            <a:avLst>
              <a:gd name="adj" fmla="val 5217"/>
            </a:avLst>
          </a:prstGeom>
          <a:solidFill>
            <a:srgbClr val="F4F7FA"/>
          </a:solidFill>
          <a:ln/>
        </p:spPr>
      </p:sp>
      <p:sp>
        <p:nvSpPr>
          <p:cNvPr id="18" name="Shape 16"/>
          <p:cNvSpPr/>
          <p:nvPr/>
        </p:nvSpPr>
        <p:spPr>
          <a:xfrm>
            <a:off x="6629400" y="5586984"/>
            <a:ext cx="109728" cy="109728"/>
          </a:xfrm>
          <a:prstGeom prst="ellipse">
            <a:avLst/>
          </a:prstGeom>
          <a:solidFill>
            <a:srgbClr val="E8607A"/>
          </a:solidFill>
          <a:ln/>
        </p:spPr>
      </p:sp>
      <p:sp>
        <p:nvSpPr>
          <p:cNvPr id="19" name="Text 17"/>
          <p:cNvSpPr/>
          <p:nvPr/>
        </p:nvSpPr>
        <p:spPr>
          <a:xfrm>
            <a:off x="6858000" y="5276088"/>
            <a:ext cx="4480560" cy="320040"/>
          </a:xfrm>
          <a:prstGeom prst="rect">
            <a:avLst/>
          </a:prstGeom>
          <a:noFill/>
          <a:ln/>
        </p:spPr>
        <p:txBody>
          <a:bodyPr wrap="square" rtlCol="0" anchor="ctr"/>
          <a:lstStyle/>
          <a:p>
            <a:pPr indent="0" marL="0">
              <a:buNone/>
            </a:pPr>
            <a:r>
              <a:rPr lang="en-US" sz="1500" b="1" dirty="0">
                <a:solidFill>
                  <a:srgbClr val="112A45"/>
                </a:solidFill>
                <a:latin typeface="Calibri" pitchFamily="34" charset="0"/>
                <a:ea typeface="Calibri" pitchFamily="34" charset="-122"/>
                <a:cs typeface="Calibri" pitchFamily="34" charset="-120"/>
              </a:rPr>
              <a:t>Aggregate</a:t>
            </a:r>
            <a:endParaRPr lang="en-US" sz="1500" dirty="0"/>
          </a:p>
        </p:txBody>
      </p:sp>
      <p:sp>
        <p:nvSpPr>
          <p:cNvPr id="20" name="Text 18"/>
          <p:cNvSpPr/>
          <p:nvPr/>
        </p:nvSpPr>
        <p:spPr>
          <a:xfrm>
            <a:off x="6858000" y="5623560"/>
            <a:ext cx="4572000" cy="502920"/>
          </a:xfrm>
          <a:prstGeom prst="rect">
            <a:avLst/>
          </a:prstGeom>
          <a:noFill/>
          <a:ln/>
        </p:spPr>
        <p:txBody>
          <a:bodyPr wrap="square" rtlCol="0" anchor="ctr"/>
          <a:lstStyle/>
          <a:p>
            <a:pPr indent="0" marL="0">
              <a:buNone/>
            </a:pPr>
            <a:r>
              <a:rPr lang="en-US" sz="1150" dirty="0">
                <a:solidFill>
                  <a:srgbClr val="50606F"/>
                </a:solidFill>
                <a:latin typeface="Calibri" pitchFamily="34" charset="0"/>
                <a:ea typeface="Calibri" pitchFamily="34" charset="-122"/>
                <a:cs typeface="Calibri" pitchFamily="34" charset="-120"/>
              </a:rPr>
              <a:t>COUNT, SUM, AVG to convert row-level data into totals and averages</a:t>
            </a:r>
            <a:endParaRPr lang="en-US" sz="1150" dirty="0"/>
          </a:p>
        </p:txBody>
      </p:sp>
      <p:sp>
        <p:nvSpPr>
          <p:cNvPr id="21" name="Text 19"/>
          <p:cNvSpPr/>
          <p:nvPr/>
        </p:nvSpPr>
        <p:spPr>
          <a:xfrm>
            <a:off x="11475720" y="6446520"/>
            <a:ext cx="548640" cy="274320"/>
          </a:xfrm>
          <a:prstGeom prst="rect">
            <a:avLst/>
          </a:prstGeom>
          <a:noFill/>
          <a:ln/>
        </p:spPr>
        <p:txBody>
          <a:bodyPr wrap="square" rtlCol="0" anchor="ctr"/>
          <a:lstStyle/>
          <a:p>
            <a:pPr indent="0" marL="0">
              <a:buNone/>
            </a:pPr>
            <a:r>
              <a:rPr lang="en-US" sz="1000" dirty="0">
                <a:solidFill>
                  <a:srgbClr val="9FB3C8"/>
                </a:solidFill>
                <a:latin typeface="Consolas" pitchFamily="34" charset="0"/>
                <a:ea typeface="Consolas" pitchFamily="34" charset="-122"/>
                <a:cs typeface="Consolas"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E33"/>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DD4BF"/>
                </a:solidFill>
                <a:latin typeface="Consolas" pitchFamily="34" charset="0"/>
                <a:ea typeface="Consolas" pitchFamily="34" charset="-122"/>
                <a:cs typeface="Consolas" pitchFamily="34" charset="-120"/>
              </a:rPr>
              <a:t>DATASET OVERVIEW</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Data Analytics Dataset</a:t>
            </a:r>
            <a:endParaRPr lang="en-US" sz="3000" dirty="0"/>
          </a:p>
        </p:txBody>
      </p:sp>
      <p:sp>
        <p:nvSpPr>
          <p:cNvPr id="4" name="Text 2"/>
          <p:cNvSpPr/>
          <p:nvPr/>
        </p:nvSpPr>
        <p:spPr>
          <a:xfrm>
            <a:off x="548640" y="1417320"/>
            <a:ext cx="9144000" cy="365760"/>
          </a:xfrm>
          <a:prstGeom prst="rect">
            <a:avLst/>
          </a:prstGeom>
          <a:noFill/>
          <a:ln/>
        </p:spPr>
        <p:txBody>
          <a:bodyPr wrap="square" rtlCol="0" anchor="ctr"/>
          <a:lstStyle/>
          <a:p>
            <a:pPr indent="0" marL="0">
              <a:buNone/>
            </a:pPr>
            <a:r>
              <a:rPr lang="en-US" sz="1350" dirty="0">
                <a:solidFill>
                  <a:srgbClr val="9FB3C8"/>
                </a:solidFill>
                <a:latin typeface="Calibri" pitchFamily="34" charset="0"/>
                <a:ea typeface="Calibri" pitchFamily="34" charset="-122"/>
                <a:cs typeface="Calibri" pitchFamily="34" charset="-120"/>
              </a:rPr>
              <a:t>Loaded with pandas.read_excel() into a single working DataFrame df.</a:t>
            </a:r>
            <a:endParaRPr lang="en-US" sz="1350" dirty="0"/>
          </a:p>
        </p:txBody>
      </p:sp>
      <p:sp>
        <p:nvSpPr>
          <p:cNvPr id="5" name="Shape 3"/>
          <p:cNvSpPr/>
          <p:nvPr/>
        </p:nvSpPr>
        <p:spPr>
          <a:xfrm>
            <a:off x="548640" y="2011680"/>
            <a:ext cx="3246120" cy="914400"/>
          </a:xfrm>
          <a:prstGeom prst="roundRect">
            <a:avLst>
              <a:gd name="adj" fmla="val 6000"/>
            </a:avLst>
          </a:prstGeom>
          <a:solidFill>
            <a:srgbClr val="13293F"/>
          </a:solidFill>
          <a:ln w="12700">
            <a:solidFill>
              <a:srgbClr val="1F3B57"/>
            </a:solidFill>
            <a:prstDash val="solid"/>
          </a:ln>
        </p:spPr>
      </p:sp>
      <p:sp>
        <p:nvSpPr>
          <p:cNvPr id="6" name="Text 4"/>
          <p:cNvSpPr/>
          <p:nvPr/>
        </p:nvSpPr>
        <p:spPr>
          <a:xfrm>
            <a:off x="731520" y="2121408"/>
            <a:ext cx="2880360" cy="320040"/>
          </a:xfrm>
          <a:prstGeom prst="rect">
            <a:avLst/>
          </a:prstGeom>
          <a:noFill/>
          <a:ln/>
        </p:spPr>
        <p:txBody>
          <a:bodyPr wrap="square" lIns="0" tIns="0" rIns="0" bIns="0" rtlCol="0" anchor="ctr"/>
          <a:lstStyle/>
          <a:p>
            <a:pPr indent="0" marL="0">
              <a:buNone/>
            </a:pPr>
            <a:r>
              <a:rPr lang="en-US" sz="1400" b="1" dirty="0">
                <a:solidFill>
                  <a:srgbClr val="2DD4BF"/>
                </a:solidFill>
                <a:latin typeface="Consolas" pitchFamily="34" charset="0"/>
                <a:ea typeface="Consolas" pitchFamily="34" charset="-122"/>
                <a:cs typeface="Consolas" pitchFamily="34" charset="-120"/>
              </a:rPr>
              <a:t>OrderID</a:t>
            </a:r>
            <a:endParaRPr lang="en-US" sz="1400" dirty="0"/>
          </a:p>
        </p:txBody>
      </p:sp>
      <p:sp>
        <p:nvSpPr>
          <p:cNvPr id="7" name="Text 5"/>
          <p:cNvSpPr/>
          <p:nvPr/>
        </p:nvSpPr>
        <p:spPr>
          <a:xfrm>
            <a:off x="731520" y="2468880"/>
            <a:ext cx="2880360" cy="36576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unique order key</a:t>
            </a:r>
            <a:endParaRPr lang="en-US" sz="1100" dirty="0"/>
          </a:p>
        </p:txBody>
      </p:sp>
      <p:sp>
        <p:nvSpPr>
          <p:cNvPr id="8" name="Shape 6"/>
          <p:cNvSpPr/>
          <p:nvPr/>
        </p:nvSpPr>
        <p:spPr>
          <a:xfrm>
            <a:off x="4023360" y="2011680"/>
            <a:ext cx="3246120" cy="914400"/>
          </a:xfrm>
          <a:prstGeom prst="roundRect">
            <a:avLst>
              <a:gd name="adj" fmla="val 6000"/>
            </a:avLst>
          </a:prstGeom>
          <a:solidFill>
            <a:srgbClr val="13293F"/>
          </a:solidFill>
          <a:ln w="12700">
            <a:solidFill>
              <a:srgbClr val="1F3B57"/>
            </a:solidFill>
            <a:prstDash val="solid"/>
          </a:ln>
        </p:spPr>
      </p:sp>
      <p:sp>
        <p:nvSpPr>
          <p:cNvPr id="9" name="Text 7"/>
          <p:cNvSpPr/>
          <p:nvPr/>
        </p:nvSpPr>
        <p:spPr>
          <a:xfrm>
            <a:off x="4206240" y="2121408"/>
            <a:ext cx="2880360" cy="320040"/>
          </a:xfrm>
          <a:prstGeom prst="rect">
            <a:avLst/>
          </a:prstGeom>
          <a:noFill/>
          <a:ln/>
        </p:spPr>
        <p:txBody>
          <a:bodyPr wrap="square" lIns="0" tIns="0" rIns="0" bIns="0" rtlCol="0" anchor="ctr"/>
          <a:lstStyle/>
          <a:p>
            <a:pPr indent="0" marL="0">
              <a:buNone/>
            </a:pPr>
            <a:r>
              <a:rPr lang="en-US" sz="1400" b="1" dirty="0">
                <a:solidFill>
                  <a:srgbClr val="2DD4BF"/>
                </a:solidFill>
                <a:latin typeface="Consolas" pitchFamily="34" charset="0"/>
                <a:ea typeface="Consolas" pitchFamily="34" charset="-122"/>
                <a:cs typeface="Consolas" pitchFamily="34" charset="-120"/>
              </a:rPr>
              <a:t>Product</a:t>
            </a:r>
            <a:endParaRPr lang="en-US" sz="1400" dirty="0"/>
          </a:p>
        </p:txBody>
      </p:sp>
      <p:sp>
        <p:nvSpPr>
          <p:cNvPr id="10" name="Text 8"/>
          <p:cNvSpPr/>
          <p:nvPr/>
        </p:nvSpPr>
        <p:spPr>
          <a:xfrm>
            <a:off x="4206240" y="2468880"/>
            <a:ext cx="2880360" cy="36576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item purchased</a:t>
            </a:r>
            <a:endParaRPr lang="en-US" sz="1100" dirty="0"/>
          </a:p>
        </p:txBody>
      </p:sp>
      <p:sp>
        <p:nvSpPr>
          <p:cNvPr id="11" name="Shape 9"/>
          <p:cNvSpPr/>
          <p:nvPr/>
        </p:nvSpPr>
        <p:spPr>
          <a:xfrm>
            <a:off x="7498080" y="2011680"/>
            <a:ext cx="3246120" cy="914400"/>
          </a:xfrm>
          <a:prstGeom prst="roundRect">
            <a:avLst>
              <a:gd name="adj" fmla="val 6000"/>
            </a:avLst>
          </a:prstGeom>
          <a:solidFill>
            <a:srgbClr val="13293F"/>
          </a:solidFill>
          <a:ln w="12700">
            <a:solidFill>
              <a:srgbClr val="1F3B57"/>
            </a:solidFill>
            <a:prstDash val="solid"/>
          </a:ln>
        </p:spPr>
      </p:sp>
      <p:sp>
        <p:nvSpPr>
          <p:cNvPr id="12" name="Text 10"/>
          <p:cNvSpPr/>
          <p:nvPr/>
        </p:nvSpPr>
        <p:spPr>
          <a:xfrm>
            <a:off x="7680960" y="2121408"/>
            <a:ext cx="2880360" cy="320040"/>
          </a:xfrm>
          <a:prstGeom prst="rect">
            <a:avLst/>
          </a:prstGeom>
          <a:noFill/>
          <a:ln/>
        </p:spPr>
        <p:txBody>
          <a:bodyPr wrap="square" lIns="0" tIns="0" rIns="0" bIns="0" rtlCol="0" anchor="ctr"/>
          <a:lstStyle/>
          <a:p>
            <a:pPr indent="0" marL="0">
              <a:buNone/>
            </a:pPr>
            <a:r>
              <a:rPr lang="en-US" sz="1400" b="1" dirty="0">
                <a:solidFill>
                  <a:srgbClr val="2DD4BF"/>
                </a:solidFill>
                <a:latin typeface="Consolas" pitchFamily="34" charset="0"/>
                <a:ea typeface="Consolas" pitchFamily="34" charset="-122"/>
                <a:cs typeface="Consolas" pitchFamily="34" charset="-120"/>
              </a:rPr>
              <a:t>CustomerID</a:t>
            </a:r>
            <a:endParaRPr lang="en-US" sz="1400" dirty="0"/>
          </a:p>
        </p:txBody>
      </p:sp>
      <p:sp>
        <p:nvSpPr>
          <p:cNvPr id="13" name="Text 11"/>
          <p:cNvSpPr/>
          <p:nvPr/>
        </p:nvSpPr>
        <p:spPr>
          <a:xfrm>
            <a:off x="7680960" y="2468880"/>
            <a:ext cx="2880360" cy="36576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buyer reference</a:t>
            </a:r>
            <a:endParaRPr lang="en-US" sz="1100" dirty="0"/>
          </a:p>
        </p:txBody>
      </p:sp>
      <p:sp>
        <p:nvSpPr>
          <p:cNvPr id="14" name="Shape 12"/>
          <p:cNvSpPr/>
          <p:nvPr/>
        </p:nvSpPr>
        <p:spPr>
          <a:xfrm>
            <a:off x="548640" y="3154680"/>
            <a:ext cx="3246120" cy="914400"/>
          </a:xfrm>
          <a:prstGeom prst="roundRect">
            <a:avLst>
              <a:gd name="adj" fmla="val 6000"/>
            </a:avLst>
          </a:prstGeom>
          <a:solidFill>
            <a:srgbClr val="13293F"/>
          </a:solidFill>
          <a:ln w="12700">
            <a:solidFill>
              <a:srgbClr val="1F3B57"/>
            </a:solidFill>
            <a:prstDash val="solid"/>
          </a:ln>
        </p:spPr>
      </p:sp>
      <p:sp>
        <p:nvSpPr>
          <p:cNvPr id="15" name="Text 13"/>
          <p:cNvSpPr/>
          <p:nvPr/>
        </p:nvSpPr>
        <p:spPr>
          <a:xfrm>
            <a:off x="731520" y="3264408"/>
            <a:ext cx="2880360" cy="320040"/>
          </a:xfrm>
          <a:prstGeom prst="rect">
            <a:avLst/>
          </a:prstGeom>
          <a:noFill/>
          <a:ln/>
        </p:spPr>
        <p:txBody>
          <a:bodyPr wrap="square" lIns="0" tIns="0" rIns="0" bIns="0" rtlCol="0" anchor="ctr"/>
          <a:lstStyle/>
          <a:p>
            <a:pPr indent="0" marL="0">
              <a:buNone/>
            </a:pPr>
            <a:r>
              <a:rPr lang="en-US" sz="1400" b="1" dirty="0">
                <a:solidFill>
                  <a:srgbClr val="2DD4BF"/>
                </a:solidFill>
                <a:latin typeface="Consolas" pitchFamily="34" charset="0"/>
                <a:ea typeface="Consolas" pitchFamily="34" charset="-122"/>
                <a:cs typeface="Consolas" pitchFamily="34" charset="-120"/>
              </a:rPr>
              <a:t>Quantity</a:t>
            </a:r>
            <a:endParaRPr lang="en-US" sz="1400" dirty="0"/>
          </a:p>
        </p:txBody>
      </p:sp>
      <p:sp>
        <p:nvSpPr>
          <p:cNvPr id="16" name="Text 14"/>
          <p:cNvSpPr/>
          <p:nvPr/>
        </p:nvSpPr>
        <p:spPr>
          <a:xfrm>
            <a:off x="731520" y="3611880"/>
            <a:ext cx="2880360" cy="36576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units per order</a:t>
            </a:r>
            <a:endParaRPr lang="en-US" sz="1100" dirty="0"/>
          </a:p>
        </p:txBody>
      </p:sp>
      <p:sp>
        <p:nvSpPr>
          <p:cNvPr id="17" name="Shape 15"/>
          <p:cNvSpPr/>
          <p:nvPr/>
        </p:nvSpPr>
        <p:spPr>
          <a:xfrm>
            <a:off x="4023360" y="3154680"/>
            <a:ext cx="3246120" cy="914400"/>
          </a:xfrm>
          <a:prstGeom prst="roundRect">
            <a:avLst>
              <a:gd name="adj" fmla="val 6000"/>
            </a:avLst>
          </a:prstGeom>
          <a:solidFill>
            <a:srgbClr val="13293F"/>
          </a:solidFill>
          <a:ln w="12700">
            <a:solidFill>
              <a:srgbClr val="1F3B57"/>
            </a:solidFill>
            <a:prstDash val="solid"/>
          </a:ln>
        </p:spPr>
      </p:sp>
      <p:sp>
        <p:nvSpPr>
          <p:cNvPr id="18" name="Text 16"/>
          <p:cNvSpPr/>
          <p:nvPr/>
        </p:nvSpPr>
        <p:spPr>
          <a:xfrm>
            <a:off x="4206240" y="3264408"/>
            <a:ext cx="2880360" cy="320040"/>
          </a:xfrm>
          <a:prstGeom prst="rect">
            <a:avLst/>
          </a:prstGeom>
          <a:noFill/>
          <a:ln/>
        </p:spPr>
        <p:txBody>
          <a:bodyPr wrap="square" lIns="0" tIns="0" rIns="0" bIns="0" rtlCol="0" anchor="ctr"/>
          <a:lstStyle/>
          <a:p>
            <a:pPr indent="0" marL="0">
              <a:buNone/>
            </a:pPr>
            <a:r>
              <a:rPr lang="en-US" sz="1400" b="1" dirty="0">
                <a:solidFill>
                  <a:srgbClr val="2DD4BF"/>
                </a:solidFill>
                <a:latin typeface="Consolas" pitchFamily="34" charset="0"/>
                <a:ea typeface="Consolas" pitchFamily="34" charset="-122"/>
                <a:cs typeface="Consolas" pitchFamily="34" charset="-120"/>
              </a:rPr>
              <a:t>TotalPrice</a:t>
            </a:r>
            <a:endParaRPr lang="en-US" sz="1400" dirty="0"/>
          </a:p>
        </p:txBody>
      </p:sp>
      <p:sp>
        <p:nvSpPr>
          <p:cNvPr id="19" name="Text 17"/>
          <p:cNvSpPr/>
          <p:nvPr/>
        </p:nvSpPr>
        <p:spPr>
          <a:xfrm>
            <a:off x="4206240" y="3611880"/>
            <a:ext cx="2880360" cy="36576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order value</a:t>
            </a:r>
            <a:endParaRPr lang="en-US" sz="1100" dirty="0"/>
          </a:p>
        </p:txBody>
      </p:sp>
      <p:sp>
        <p:nvSpPr>
          <p:cNvPr id="20" name="Shape 18"/>
          <p:cNvSpPr/>
          <p:nvPr/>
        </p:nvSpPr>
        <p:spPr>
          <a:xfrm>
            <a:off x="7498080" y="3154680"/>
            <a:ext cx="3246120" cy="914400"/>
          </a:xfrm>
          <a:prstGeom prst="roundRect">
            <a:avLst>
              <a:gd name="adj" fmla="val 6000"/>
            </a:avLst>
          </a:prstGeom>
          <a:solidFill>
            <a:srgbClr val="13293F"/>
          </a:solidFill>
          <a:ln w="12700">
            <a:solidFill>
              <a:srgbClr val="1F3B57"/>
            </a:solidFill>
            <a:prstDash val="solid"/>
          </a:ln>
        </p:spPr>
      </p:sp>
      <p:sp>
        <p:nvSpPr>
          <p:cNvPr id="21" name="Text 19"/>
          <p:cNvSpPr/>
          <p:nvPr/>
        </p:nvSpPr>
        <p:spPr>
          <a:xfrm>
            <a:off x="7680960" y="3264408"/>
            <a:ext cx="2880360" cy="320040"/>
          </a:xfrm>
          <a:prstGeom prst="rect">
            <a:avLst/>
          </a:prstGeom>
          <a:noFill/>
          <a:ln/>
        </p:spPr>
        <p:txBody>
          <a:bodyPr wrap="square" lIns="0" tIns="0" rIns="0" bIns="0" rtlCol="0" anchor="ctr"/>
          <a:lstStyle/>
          <a:p>
            <a:pPr indent="0" marL="0">
              <a:buNone/>
            </a:pPr>
            <a:r>
              <a:rPr lang="en-US" sz="1400" b="1" dirty="0">
                <a:solidFill>
                  <a:srgbClr val="2DD4BF"/>
                </a:solidFill>
                <a:latin typeface="Consolas" pitchFamily="34" charset="0"/>
                <a:ea typeface="Consolas" pitchFamily="34" charset="-122"/>
                <a:cs typeface="Consolas" pitchFamily="34" charset="-120"/>
              </a:rPr>
              <a:t>OrderStatus</a:t>
            </a:r>
            <a:endParaRPr lang="en-US" sz="1400" dirty="0"/>
          </a:p>
        </p:txBody>
      </p:sp>
      <p:sp>
        <p:nvSpPr>
          <p:cNvPr id="22" name="Text 20"/>
          <p:cNvSpPr/>
          <p:nvPr/>
        </p:nvSpPr>
        <p:spPr>
          <a:xfrm>
            <a:off x="7680960" y="3611880"/>
            <a:ext cx="2880360" cy="36576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e.g. Delivered</a:t>
            </a:r>
            <a:endParaRPr lang="en-US" sz="1100" dirty="0"/>
          </a:p>
        </p:txBody>
      </p:sp>
      <p:sp>
        <p:nvSpPr>
          <p:cNvPr id="23" name="Shape 21"/>
          <p:cNvSpPr/>
          <p:nvPr/>
        </p:nvSpPr>
        <p:spPr>
          <a:xfrm>
            <a:off x="548640" y="4297680"/>
            <a:ext cx="3246120" cy="914400"/>
          </a:xfrm>
          <a:prstGeom prst="roundRect">
            <a:avLst>
              <a:gd name="adj" fmla="val 6000"/>
            </a:avLst>
          </a:prstGeom>
          <a:solidFill>
            <a:srgbClr val="13293F"/>
          </a:solidFill>
          <a:ln w="12700">
            <a:solidFill>
              <a:srgbClr val="1F3B57"/>
            </a:solidFill>
            <a:prstDash val="solid"/>
          </a:ln>
        </p:spPr>
      </p:sp>
      <p:sp>
        <p:nvSpPr>
          <p:cNvPr id="24" name="Text 22"/>
          <p:cNvSpPr/>
          <p:nvPr/>
        </p:nvSpPr>
        <p:spPr>
          <a:xfrm>
            <a:off x="731520" y="4407408"/>
            <a:ext cx="2880360" cy="320040"/>
          </a:xfrm>
          <a:prstGeom prst="rect">
            <a:avLst/>
          </a:prstGeom>
          <a:noFill/>
          <a:ln/>
        </p:spPr>
        <p:txBody>
          <a:bodyPr wrap="square" lIns="0" tIns="0" rIns="0" bIns="0" rtlCol="0" anchor="ctr"/>
          <a:lstStyle/>
          <a:p>
            <a:pPr indent="0" marL="0">
              <a:buNone/>
            </a:pPr>
            <a:r>
              <a:rPr lang="en-US" sz="1400" b="1" dirty="0">
                <a:solidFill>
                  <a:srgbClr val="2DD4BF"/>
                </a:solidFill>
                <a:latin typeface="Consolas" pitchFamily="34" charset="0"/>
                <a:ea typeface="Consolas" pitchFamily="34" charset="-122"/>
                <a:cs typeface="Consolas" pitchFamily="34" charset="-120"/>
              </a:rPr>
              <a:t>PaymentMethod</a:t>
            </a:r>
            <a:endParaRPr lang="en-US" sz="1400" dirty="0"/>
          </a:p>
        </p:txBody>
      </p:sp>
      <p:sp>
        <p:nvSpPr>
          <p:cNvPr id="25" name="Text 23"/>
          <p:cNvSpPr/>
          <p:nvPr/>
        </p:nvSpPr>
        <p:spPr>
          <a:xfrm>
            <a:off x="731520" y="4754880"/>
            <a:ext cx="2880360" cy="36576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payment channel</a:t>
            </a:r>
            <a:endParaRPr lang="en-US" sz="1100" dirty="0"/>
          </a:p>
        </p:txBody>
      </p:sp>
      <p:sp>
        <p:nvSpPr>
          <p:cNvPr id="26" name="Shape 24"/>
          <p:cNvSpPr/>
          <p:nvPr/>
        </p:nvSpPr>
        <p:spPr>
          <a:xfrm>
            <a:off x="4023360" y="4297680"/>
            <a:ext cx="3246120" cy="914400"/>
          </a:xfrm>
          <a:prstGeom prst="roundRect">
            <a:avLst>
              <a:gd name="adj" fmla="val 6000"/>
            </a:avLst>
          </a:prstGeom>
          <a:solidFill>
            <a:srgbClr val="13293F"/>
          </a:solidFill>
          <a:ln w="12700">
            <a:solidFill>
              <a:srgbClr val="1F3B57"/>
            </a:solidFill>
            <a:prstDash val="solid"/>
          </a:ln>
        </p:spPr>
      </p:sp>
      <p:sp>
        <p:nvSpPr>
          <p:cNvPr id="27" name="Text 25"/>
          <p:cNvSpPr/>
          <p:nvPr/>
        </p:nvSpPr>
        <p:spPr>
          <a:xfrm>
            <a:off x="4206240" y="4407408"/>
            <a:ext cx="2880360" cy="320040"/>
          </a:xfrm>
          <a:prstGeom prst="rect">
            <a:avLst/>
          </a:prstGeom>
          <a:noFill/>
          <a:ln/>
        </p:spPr>
        <p:txBody>
          <a:bodyPr wrap="square" lIns="0" tIns="0" rIns="0" bIns="0" rtlCol="0" anchor="ctr"/>
          <a:lstStyle/>
          <a:p>
            <a:pPr indent="0" marL="0">
              <a:buNone/>
            </a:pPr>
            <a:r>
              <a:rPr lang="en-US" sz="1400" b="1" dirty="0">
                <a:solidFill>
                  <a:srgbClr val="2DD4BF"/>
                </a:solidFill>
                <a:latin typeface="Consolas" pitchFamily="34" charset="0"/>
                <a:ea typeface="Consolas" pitchFamily="34" charset="-122"/>
                <a:cs typeface="Consolas" pitchFamily="34" charset="-120"/>
              </a:rPr>
              <a:t>ReferralSource</a:t>
            </a:r>
            <a:endParaRPr lang="en-US" sz="1400" dirty="0"/>
          </a:p>
        </p:txBody>
      </p:sp>
      <p:sp>
        <p:nvSpPr>
          <p:cNvPr id="28" name="Text 26"/>
          <p:cNvSpPr/>
          <p:nvPr/>
        </p:nvSpPr>
        <p:spPr>
          <a:xfrm>
            <a:off x="4206240" y="4754880"/>
            <a:ext cx="2880360" cy="36576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acquisition channel</a:t>
            </a:r>
            <a:endParaRPr lang="en-US" sz="1100" dirty="0"/>
          </a:p>
        </p:txBody>
      </p:sp>
      <p:sp>
        <p:nvSpPr>
          <p:cNvPr id="29" name="Shape 27"/>
          <p:cNvSpPr/>
          <p:nvPr/>
        </p:nvSpPr>
        <p:spPr>
          <a:xfrm>
            <a:off x="7498080" y="4297680"/>
            <a:ext cx="3246120" cy="914400"/>
          </a:xfrm>
          <a:prstGeom prst="roundRect">
            <a:avLst>
              <a:gd name="adj" fmla="val 6000"/>
            </a:avLst>
          </a:prstGeom>
          <a:solidFill>
            <a:srgbClr val="13293F"/>
          </a:solidFill>
          <a:ln w="12700">
            <a:solidFill>
              <a:srgbClr val="1F3B57"/>
            </a:solidFill>
            <a:prstDash val="solid"/>
          </a:ln>
        </p:spPr>
      </p:sp>
      <p:sp>
        <p:nvSpPr>
          <p:cNvPr id="30" name="Text 28"/>
          <p:cNvSpPr/>
          <p:nvPr/>
        </p:nvSpPr>
        <p:spPr>
          <a:xfrm>
            <a:off x="7680960" y="4407408"/>
            <a:ext cx="2880360" cy="320040"/>
          </a:xfrm>
          <a:prstGeom prst="rect">
            <a:avLst/>
          </a:prstGeom>
          <a:noFill/>
          <a:ln/>
        </p:spPr>
        <p:txBody>
          <a:bodyPr wrap="square" lIns="0" tIns="0" rIns="0" bIns="0" rtlCol="0" anchor="ctr"/>
          <a:lstStyle/>
          <a:p>
            <a:pPr indent="0" marL="0">
              <a:buNone/>
            </a:pPr>
            <a:r>
              <a:rPr lang="en-US" sz="1400" b="1" dirty="0">
                <a:solidFill>
                  <a:srgbClr val="2DD4BF"/>
                </a:solidFill>
                <a:latin typeface="Consolas" pitchFamily="34" charset="0"/>
                <a:ea typeface="Consolas" pitchFamily="34" charset="-122"/>
                <a:cs typeface="Consolas" pitchFamily="34" charset="-120"/>
              </a:rPr>
              <a:t>CouponCode</a:t>
            </a:r>
            <a:endParaRPr lang="en-US" sz="1400" dirty="0"/>
          </a:p>
        </p:txBody>
      </p:sp>
      <p:sp>
        <p:nvSpPr>
          <p:cNvPr id="31" name="Text 29"/>
          <p:cNvSpPr/>
          <p:nvPr/>
        </p:nvSpPr>
        <p:spPr>
          <a:xfrm>
            <a:off x="7680960" y="4754880"/>
            <a:ext cx="2880360" cy="36576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discount applied</a:t>
            </a:r>
            <a:endParaRPr lang="en-US" sz="1100" dirty="0"/>
          </a:p>
        </p:txBody>
      </p:sp>
      <p:sp>
        <p:nvSpPr>
          <p:cNvPr id="32" name="Text 30"/>
          <p:cNvSpPr/>
          <p:nvPr/>
        </p:nvSpPr>
        <p:spPr>
          <a:xfrm>
            <a:off x="11475720" y="6446520"/>
            <a:ext cx="548640" cy="274320"/>
          </a:xfrm>
          <a:prstGeom prst="rect">
            <a:avLst/>
          </a:prstGeom>
          <a:noFill/>
          <a:ln/>
        </p:spPr>
        <p:txBody>
          <a:bodyPr wrap="square" rtlCol="0" anchor="ctr"/>
          <a:lstStyle/>
          <a:p>
            <a:pPr indent="0" marL="0">
              <a:buNone/>
            </a:pPr>
            <a:r>
              <a:rPr lang="en-US" sz="1000" dirty="0">
                <a:solidFill>
                  <a:srgbClr val="9FB3C8"/>
                </a:solidFill>
                <a:latin typeface="Consolas" pitchFamily="34" charset="0"/>
                <a:ea typeface="Consolas" pitchFamily="34" charset="-122"/>
                <a:cs typeface="Consolas"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DD4BF"/>
                </a:solidFill>
                <a:latin typeface="Consolas" pitchFamily="34" charset="0"/>
                <a:ea typeface="Consolas" pitchFamily="34" charset="-122"/>
                <a:cs typeface="Consolas" pitchFamily="34" charset="-120"/>
              </a:rPr>
              <a:t>STEP 1 — SELECT &amp; FILTER</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Isolating the columns and rows that matter</a:t>
            </a:r>
            <a:endParaRPr lang="en-US" sz="2700" dirty="0"/>
          </a:p>
        </p:txBody>
      </p:sp>
      <p:sp>
        <p:nvSpPr>
          <p:cNvPr id="4" name="Shape 2"/>
          <p:cNvSpPr/>
          <p:nvPr/>
        </p:nvSpPr>
        <p:spPr>
          <a:xfrm>
            <a:off x="548640" y="1600200"/>
            <a:ext cx="6309360" cy="2377440"/>
          </a:xfrm>
          <a:prstGeom prst="roundRect">
            <a:avLst>
              <a:gd name="adj" fmla="val 3077"/>
            </a:avLst>
          </a:prstGeom>
          <a:solidFill>
            <a:srgbClr val="13293F"/>
          </a:solidFill>
          <a:ln w="12700">
            <a:solidFill>
              <a:srgbClr val="1F3B57"/>
            </a:solidFill>
            <a:prstDash val="solid"/>
          </a:ln>
        </p:spPr>
      </p:sp>
      <p:sp>
        <p:nvSpPr>
          <p:cNvPr id="5" name="Text 3"/>
          <p:cNvSpPr/>
          <p:nvPr/>
        </p:nvSpPr>
        <p:spPr>
          <a:xfrm>
            <a:off x="777240" y="1764792"/>
            <a:ext cx="5852160" cy="2048256"/>
          </a:xfrm>
          <a:prstGeom prst="rect">
            <a:avLst/>
          </a:prstGeom>
          <a:noFill/>
          <a:ln/>
        </p:spPr>
        <p:txBody>
          <a:bodyPr wrap="square" lIns="0" tIns="0" rIns="0" bIns="0" rtlCol="0" anchor="t"/>
          <a:lstStyle/>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selected_data = df[['OrderID', 'Product',</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                    'CustomerID', 'TotalPrice']]</a:t>
            </a:r>
            <a:endParaRPr lang="en-US" sz="1250" dirty="0"/>
          </a:p>
          <a:p>
            <a:pPr indent="0" marL="0">
              <a:lnSpc>
                <a:spcPct val="125000"/>
              </a:lnSpc>
              <a:buNone/>
            </a:pP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high_value_orders = df[df['TotalPrice'] &gt; 2000]</a:t>
            </a:r>
            <a:endParaRPr lang="en-US" sz="1250" dirty="0"/>
          </a:p>
          <a:p>
            <a:pPr indent="0" marL="0">
              <a:lnSpc>
                <a:spcPct val="125000"/>
              </a:lnSpc>
              <a:buNone/>
            </a:pP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delivered_orders = df[df['OrderStatus'] == 'Delivered']</a:t>
            </a:r>
            <a:endParaRPr lang="en-US" sz="1250" dirty="0"/>
          </a:p>
        </p:txBody>
      </p:sp>
      <p:sp>
        <p:nvSpPr>
          <p:cNvPr id="6" name="Shape 4"/>
          <p:cNvSpPr/>
          <p:nvPr/>
        </p:nvSpPr>
        <p:spPr>
          <a:xfrm>
            <a:off x="7178040" y="1810512"/>
            <a:ext cx="109728" cy="109728"/>
          </a:xfrm>
          <a:prstGeom prst="ellipse">
            <a:avLst/>
          </a:prstGeom>
          <a:solidFill>
            <a:srgbClr val="F5A524"/>
          </a:solidFill>
          <a:ln/>
        </p:spPr>
      </p:sp>
      <p:sp>
        <p:nvSpPr>
          <p:cNvPr id="7" name="Text 5"/>
          <p:cNvSpPr/>
          <p:nvPr/>
        </p:nvSpPr>
        <p:spPr>
          <a:xfrm>
            <a:off x="7360920" y="1691640"/>
            <a:ext cx="4206240" cy="685800"/>
          </a:xfrm>
          <a:prstGeom prst="rect">
            <a:avLst/>
          </a:prstGeom>
          <a:noFill/>
          <a:ln/>
        </p:spPr>
        <p:txBody>
          <a:bodyPr wrap="square" rtlCol="0" anchor="ctr"/>
          <a:lstStyle/>
          <a:p>
            <a:pPr indent="0" marL="0">
              <a:lnSpc>
                <a:spcPct val="120000"/>
              </a:lnSpc>
              <a:buNone/>
            </a:pPr>
            <a:r>
              <a:rPr lang="en-US" sz="1250" dirty="0">
                <a:solidFill>
                  <a:srgbClr val="2A3A4A"/>
                </a:solidFill>
                <a:latin typeface="Calibri" pitchFamily="34" charset="0"/>
                <a:ea typeface="Calibri" pitchFamily="34" charset="-122"/>
                <a:cs typeface="Calibri" pitchFamily="34" charset="-120"/>
              </a:rPr>
              <a:t>Column projection — the pandas equivalent of SELECT col1, col2 FROM df.</a:t>
            </a:r>
            <a:endParaRPr lang="en-US" sz="1250" dirty="0"/>
          </a:p>
        </p:txBody>
      </p:sp>
      <p:sp>
        <p:nvSpPr>
          <p:cNvPr id="8" name="Shape 6"/>
          <p:cNvSpPr/>
          <p:nvPr/>
        </p:nvSpPr>
        <p:spPr>
          <a:xfrm>
            <a:off x="7178040" y="2587752"/>
            <a:ext cx="109728" cy="109728"/>
          </a:xfrm>
          <a:prstGeom prst="ellipse">
            <a:avLst/>
          </a:prstGeom>
          <a:solidFill>
            <a:srgbClr val="F5A524"/>
          </a:solidFill>
          <a:ln/>
        </p:spPr>
      </p:sp>
      <p:sp>
        <p:nvSpPr>
          <p:cNvPr id="9" name="Text 7"/>
          <p:cNvSpPr/>
          <p:nvPr/>
        </p:nvSpPr>
        <p:spPr>
          <a:xfrm>
            <a:off x="7360920" y="2468880"/>
            <a:ext cx="4206240" cy="685800"/>
          </a:xfrm>
          <a:prstGeom prst="rect">
            <a:avLst/>
          </a:prstGeom>
          <a:noFill/>
          <a:ln/>
        </p:spPr>
        <p:txBody>
          <a:bodyPr wrap="square" rtlCol="0" anchor="ctr"/>
          <a:lstStyle/>
          <a:p>
            <a:pPr indent="0" marL="0">
              <a:lnSpc>
                <a:spcPct val="120000"/>
              </a:lnSpc>
              <a:buNone/>
            </a:pPr>
            <a:r>
              <a:rPr lang="en-US" sz="1250" dirty="0">
                <a:solidFill>
                  <a:srgbClr val="2A3A4A"/>
                </a:solidFill>
                <a:latin typeface="Calibri" pitchFamily="34" charset="0"/>
                <a:ea typeface="Calibri" pitchFamily="34" charset="-122"/>
                <a:cs typeface="Calibri" pitchFamily="34" charset="-120"/>
              </a:rPr>
              <a:t>Row filter on a numeric threshold — equivalent to WHERE TotalPrice &gt; 2000.</a:t>
            </a:r>
            <a:endParaRPr lang="en-US" sz="1250" dirty="0"/>
          </a:p>
        </p:txBody>
      </p:sp>
      <p:sp>
        <p:nvSpPr>
          <p:cNvPr id="10" name="Shape 8"/>
          <p:cNvSpPr/>
          <p:nvPr/>
        </p:nvSpPr>
        <p:spPr>
          <a:xfrm>
            <a:off x="7178040" y="3364992"/>
            <a:ext cx="109728" cy="109728"/>
          </a:xfrm>
          <a:prstGeom prst="ellipse">
            <a:avLst/>
          </a:prstGeom>
          <a:solidFill>
            <a:srgbClr val="F5A524"/>
          </a:solidFill>
          <a:ln/>
        </p:spPr>
      </p:sp>
      <p:sp>
        <p:nvSpPr>
          <p:cNvPr id="11" name="Text 9"/>
          <p:cNvSpPr/>
          <p:nvPr/>
        </p:nvSpPr>
        <p:spPr>
          <a:xfrm>
            <a:off x="7360920" y="3246120"/>
            <a:ext cx="4206240" cy="685800"/>
          </a:xfrm>
          <a:prstGeom prst="rect">
            <a:avLst/>
          </a:prstGeom>
          <a:noFill/>
          <a:ln/>
        </p:spPr>
        <p:txBody>
          <a:bodyPr wrap="square" rtlCol="0" anchor="ctr"/>
          <a:lstStyle/>
          <a:p>
            <a:pPr indent="0" marL="0">
              <a:lnSpc>
                <a:spcPct val="120000"/>
              </a:lnSpc>
              <a:buNone/>
            </a:pPr>
            <a:r>
              <a:rPr lang="en-US" sz="1250" dirty="0">
                <a:solidFill>
                  <a:srgbClr val="2A3A4A"/>
                </a:solidFill>
                <a:latin typeface="Calibri" pitchFamily="34" charset="0"/>
                <a:ea typeface="Calibri" pitchFamily="34" charset="-122"/>
                <a:cs typeface="Calibri" pitchFamily="34" charset="-120"/>
              </a:rPr>
              <a:t>Row filter on an exact match — equivalent to WHERE OrderStatus = 'Delivered'.</a:t>
            </a:r>
            <a:endParaRPr lang="en-US" sz="1250" dirty="0"/>
          </a:p>
        </p:txBody>
      </p:sp>
      <p:sp>
        <p:nvSpPr>
          <p:cNvPr id="12" name="Shape 10"/>
          <p:cNvSpPr/>
          <p:nvPr/>
        </p:nvSpPr>
        <p:spPr>
          <a:xfrm>
            <a:off x="548640" y="4251960"/>
            <a:ext cx="10881360" cy="1691640"/>
          </a:xfrm>
          <a:prstGeom prst="roundRect">
            <a:avLst>
              <a:gd name="adj" fmla="val 4324"/>
            </a:avLst>
          </a:prstGeom>
          <a:solidFill>
            <a:srgbClr val="F4F7FA"/>
          </a:solidFill>
          <a:ln/>
        </p:spPr>
      </p:sp>
      <p:sp>
        <p:nvSpPr>
          <p:cNvPr id="13" name="Text 11"/>
          <p:cNvSpPr/>
          <p:nvPr/>
        </p:nvSpPr>
        <p:spPr>
          <a:xfrm>
            <a:off x="822960" y="4434840"/>
            <a:ext cx="5486400" cy="320040"/>
          </a:xfrm>
          <a:prstGeom prst="rect">
            <a:avLst/>
          </a:prstGeom>
          <a:noFill/>
          <a:ln/>
        </p:spPr>
        <p:txBody>
          <a:bodyPr wrap="square" rtlCol="0" anchor="ctr"/>
          <a:lstStyle/>
          <a:p>
            <a:pPr indent="0" marL="0">
              <a:buNone/>
            </a:pPr>
            <a:r>
              <a:rPr lang="en-US" sz="1350" b="1" dirty="0">
                <a:solidFill>
                  <a:srgbClr val="112A45"/>
                </a:solidFill>
                <a:latin typeface="Calibri" pitchFamily="34" charset="0"/>
                <a:ea typeface="Calibri" pitchFamily="34" charset="-122"/>
                <a:cs typeface="Calibri" pitchFamily="34" charset="-120"/>
              </a:rPr>
              <a:t>Why filter before grouping</a:t>
            </a:r>
            <a:endParaRPr lang="en-US" sz="1350" dirty="0"/>
          </a:p>
        </p:txBody>
      </p:sp>
      <p:sp>
        <p:nvSpPr>
          <p:cNvPr id="14" name="Text 12"/>
          <p:cNvSpPr/>
          <p:nvPr/>
        </p:nvSpPr>
        <p:spPr>
          <a:xfrm>
            <a:off x="822960" y="4754880"/>
            <a:ext cx="10332720" cy="1097280"/>
          </a:xfrm>
          <a:prstGeom prst="rect">
            <a:avLst/>
          </a:prstGeom>
          <a:noFill/>
          <a:ln/>
        </p:spPr>
        <p:txBody>
          <a:bodyPr wrap="square" rtlCol="0" anchor="ctr"/>
          <a:lstStyle/>
          <a:p>
            <a:pPr indent="0" marL="0">
              <a:lnSpc>
                <a:spcPct val="130000"/>
              </a:lnSpc>
              <a:buNone/>
            </a:pPr>
            <a:r>
              <a:rPr lang="en-US" sz="1250" dirty="0">
                <a:solidFill>
                  <a:srgbClr val="50606F"/>
                </a:solidFill>
                <a:latin typeface="Calibri" pitchFamily="34" charset="0"/>
                <a:ea typeface="Calibri" pitchFamily="34" charset="-122"/>
                <a:cs typeface="Calibri" pitchFamily="34" charset="-120"/>
              </a:rPr>
              <a:t>Pandas evaluates boolean masks the same way SQL's execution engine evaluates WHERE — row by row, before any grouping happens. Filtering early keeps the working set small for every step that follows, which matters once this logic is ported back to real SQL against a large table.</a:t>
            </a:r>
            <a:endParaRPr lang="en-US" sz="1250" dirty="0"/>
          </a:p>
        </p:txBody>
      </p:sp>
      <p:sp>
        <p:nvSpPr>
          <p:cNvPr id="15" name="Text 13"/>
          <p:cNvSpPr/>
          <p:nvPr/>
        </p:nvSpPr>
        <p:spPr>
          <a:xfrm>
            <a:off x="11475720" y="6446520"/>
            <a:ext cx="548640" cy="274320"/>
          </a:xfrm>
          <a:prstGeom prst="rect">
            <a:avLst/>
          </a:prstGeom>
          <a:noFill/>
          <a:ln/>
        </p:spPr>
        <p:txBody>
          <a:bodyPr wrap="square" rtlCol="0" anchor="ctr"/>
          <a:lstStyle/>
          <a:p>
            <a:pPr indent="0" marL="0">
              <a:buNone/>
            </a:pPr>
            <a:r>
              <a:rPr lang="en-US" sz="1000" dirty="0">
                <a:solidFill>
                  <a:srgbClr val="9FB3C8"/>
                </a:solidFill>
                <a:latin typeface="Consolas" pitchFamily="34" charset="0"/>
                <a:ea typeface="Consolas" pitchFamily="34" charset="-122"/>
                <a:cs typeface="Consolas"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E33"/>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DD4BF"/>
                </a:solidFill>
                <a:latin typeface="Consolas" pitchFamily="34" charset="0"/>
                <a:ea typeface="Consolas" pitchFamily="34" charset="-122"/>
                <a:cs typeface="Consolas" pitchFamily="34" charset="-120"/>
              </a:rPr>
              <a:t>STEP 2 — SORT</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Ranking orders by revenue</a:t>
            </a:r>
            <a:endParaRPr lang="en-US" sz="2700" dirty="0"/>
          </a:p>
        </p:txBody>
      </p:sp>
      <p:sp>
        <p:nvSpPr>
          <p:cNvPr id="4" name="Shape 2"/>
          <p:cNvSpPr/>
          <p:nvPr/>
        </p:nvSpPr>
        <p:spPr>
          <a:xfrm>
            <a:off x="548640" y="1600200"/>
            <a:ext cx="6126480" cy="2834640"/>
          </a:xfrm>
          <a:prstGeom prst="roundRect">
            <a:avLst>
              <a:gd name="adj" fmla="val 2581"/>
            </a:avLst>
          </a:prstGeom>
          <a:solidFill>
            <a:srgbClr val="13293F"/>
          </a:solidFill>
          <a:ln w="12700">
            <a:solidFill>
              <a:srgbClr val="1F3B57"/>
            </a:solidFill>
            <a:prstDash val="solid"/>
          </a:ln>
        </p:spPr>
      </p:sp>
      <p:sp>
        <p:nvSpPr>
          <p:cNvPr id="5" name="Text 3"/>
          <p:cNvSpPr/>
          <p:nvPr/>
        </p:nvSpPr>
        <p:spPr>
          <a:xfrm>
            <a:off x="777240" y="1764792"/>
            <a:ext cx="5669280" cy="2505456"/>
          </a:xfrm>
          <a:prstGeom prst="rect">
            <a:avLst/>
          </a:prstGeom>
          <a:noFill/>
          <a:ln/>
        </p:spPr>
        <p:txBody>
          <a:bodyPr wrap="square" lIns="0" tIns="0" rIns="0" bIns="0" rtlCol="0" anchor="t"/>
          <a:lstStyle/>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sorted_orders = df.sort_values(</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    by='TotalPrice',</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    ascending=False</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a:t>
            </a:r>
            <a:endParaRPr lang="en-US" sz="1250" dirty="0"/>
          </a:p>
          <a:p>
            <a:pPr indent="0" marL="0">
              <a:lnSpc>
                <a:spcPct val="125000"/>
              </a:lnSpc>
              <a:buNone/>
            </a:pP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sorted_orders[['OrderID','Product',</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               'TotalPrice']].head(10)</a:t>
            </a:r>
            <a:endParaRPr lang="en-US" sz="1250" dirty="0"/>
          </a:p>
        </p:txBody>
      </p:sp>
      <p:sp>
        <p:nvSpPr>
          <p:cNvPr id="6" name="Text 4"/>
          <p:cNvSpPr/>
          <p:nvPr/>
        </p:nvSpPr>
        <p:spPr>
          <a:xfrm>
            <a:off x="7040880" y="1645920"/>
            <a:ext cx="4572000" cy="320040"/>
          </a:xfrm>
          <a:prstGeom prst="rect">
            <a:avLst/>
          </a:prstGeom>
          <a:noFill/>
          <a:ln/>
        </p:spPr>
        <p:txBody>
          <a:bodyPr wrap="square"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Equivalent SQL</a:t>
            </a:r>
            <a:endParaRPr lang="en-US" sz="1300" dirty="0"/>
          </a:p>
        </p:txBody>
      </p:sp>
      <p:sp>
        <p:nvSpPr>
          <p:cNvPr id="7" name="Shape 5"/>
          <p:cNvSpPr/>
          <p:nvPr/>
        </p:nvSpPr>
        <p:spPr>
          <a:xfrm>
            <a:off x="7040880" y="2011680"/>
            <a:ext cx="4572000" cy="1463040"/>
          </a:xfrm>
          <a:prstGeom prst="roundRect">
            <a:avLst>
              <a:gd name="adj" fmla="val 5000"/>
            </a:avLst>
          </a:prstGeom>
          <a:solidFill>
            <a:srgbClr val="13293F"/>
          </a:solidFill>
          <a:ln w="12700">
            <a:solidFill>
              <a:srgbClr val="1F3B57"/>
            </a:solidFill>
            <a:prstDash val="solid"/>
          </a:ln>
        </p:spPr>
      </p:sp>
      <p:sp>
        <p:nvSpPr>
          <p:cNvPr id="8" name="Text 6"/>
          <p:cNvSpPr/>
          <p:nvPr/>
        </p:nvSpPr>
        <p:spPr>
          <a:xfrm>
            <a:off x="7269480" y="2176272"/>
            <a:ext cx="4114800" cy="1133856"/>
          </a:xfrm>
          <a:prstGeom prst="rect">
            <a:avLst/>
          </a:prstGeom>
          <a:noFill/>
          <a:ln/>
        </p:spPr>
        <p:txBody>
          <a:bodyPr wrap="square" lIns="0" tIns="0" rIns="0" bIns="0" rtlCol="0" anchor="t"/>
          <a:lstStyle/>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SELECT OrderID, Product, TotalPrice</a:t>
            </a:r>
            <a:endParaRPr lang="en-US" sz="1200" dirty="0"/>
          </a:p>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FROM orders</a:t>
            </a:r>
            <a:endParaRPr lang="en-US" sz="1200" dirty="0"/>
          </a:p>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ORDER BY TotalPrice DESC</a:t>
            </a:r>
            <a:endParaRPr lang="en-US" sz="1200" dirty="0"/>
          </a:p>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LIMIT 10;</a:t>
            </a:r>
            <a:endParaRPr lang="en-US" sz="1200" dirty="0"/>
          </a:p>
        </p:txBody>
      </p:sp>
      <p:sp>
        <p:nvSpPr>
          <p:cNvPr id="9" name="Text 7"/>
          <p:cNvSpPr/>
          <p:nvPr/>
        </p:nvSpPr>
        <p:spPr>
          <a:xfrm>
            <a:off x="7040880" y="3703320"/>
            <a:ext cx="4572000" cy="1280160"/>
          </a:xfrm>
          <a:prstGeom prst="rect">
            <a:avLst/>
          </a:prstGeom>
          <a:noFill/>
          <a:ln/>
        </p:spPr>
        <p:txBody>
          <a:bodyPr wrap="square" rtlCol="0" anchor="ctr"/>
          <a:lstStyle/>
          <a:p>
            <a:pPr indent="0" marL="0">
              <a:lnSpc>
                <a:spcPct val="130000"/>
              </a:lnSpc>
              <a:buNone/>
            </a:pPr>
            <a:r>
              <a:rPr lang="en-US" sz="1200" dirty="0">
                <a:solidFill>
                  <a:srgbClr val="9FB3C8"/>
                </a:solidFill>
                <a:latin typeface="Calibri" pitchFamily="34" charset="0"/>
                <a:ea typeface="Calibri" pitchFamily="34" charset="-122"/>
                <a:cs typeface="Calibri" pitchFamily="34" charset="-120"/>
              </a:rPr>
              <a:t>sort_values(ascending=False) is the direct pandas analogue of ORDER BY ... DESC — both operate on the final result set, after filtering and grouping are already resolved.</a:t>
            </a:r>
            <a:endParaRPr lang="en-US" sz="1200" dirty="0"/>
          </a:p>
        </p:txBody>
      </p:sp>
      <p:sp>
        <p:nvSpPr>
          <p:cNvPr id="10" name="Text 8"/>
          <p:cNvSpPr/>
          <p:nvPr/>
        </p:nvSpPr>
        <p:spPr>
          <a:xfrm>
            <a:off x="11475720" y="6446520"/>
            <a:ext cx="548640" cy="274320"/>
          </a:xfrm>
          <a:prstGeom prst="rect">
            <a:avLst/>
          </a:prstGeom>
          <a:noFill/>
          <a:ln/>
        </p:spPr>
        <p:txBody>
          <a:bodyPr wrap="square" rtlCol="0" anchor="ctr"/>
          <a:lstStyle/>
          <a:p>
            <a:pPr indent="0" marL="0">
              <a:buNone/>
            </a:pPr>
            <a:r>
              <a:rPr lang="en-US" sz="1000" dirty="0">
                <a:solidFill>
                  <a:srgbClr val="9FB3C8"/>
                </a:solidFill>
                <a:latin typeface="Consolas" pitchFamily="34" charset="0"/>
                <a:ea typeface="Consolas" pitchFamily="34" charset="-122"/>
                <a:cs typeface="Consolas"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DD4BF"/>
                </a:solidFill>
                <a:latin typeface="Consolas" pitchFamily="34" charset="0"/>
                <a:ea typeface="Consolas" pitchFamily="34" charset="-122"/>
                <a:cs typeface="Consolas" pitchFamily="34" charset="-120"/>
              </a:rPr>
              <a:t>STEP 3 — AGGREGATE</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COUNT, SUM, AVG on the full table</a:t>
            </a:r>
            <a:endParaRPr lang="en-US" sz="2700" dirty="0"/>
          </a:p>
        </p:txBody>
      </p:sp>
      <p:sp>
        <p:nvSpPr>
          <p:cNvPr id="4" name="Shape 2"/>
          <p:cNvSpPr/>
          <p:nvPr/>
        </p:nvSpPr>
        <p:spPr>
          <a:xfrm>
            <a:off x="548640" y="1691640"/>
            <a:ext cx="3520440" cy="2377440"/>
          </a:xfrm>
          <a:prstGeom prst="roundRect">
            <a:avLst>
              <a:gd name="adj" fmla="val 3077"/>
            </a:avLst>
          </a:prstGeom>
          <a:solidFill>
            <a:srgbClr val="F4F7FA"/>
          </a:solidFill>
          <a:ln/>
        </p:spPr>
      </p:sp>
      <p:sp>
        <p:nvSpPr>
          <p:cNvPr id="5" name="Shape 3"/>
          <p:cNvSpPr/>
          <p:nvPr/>
        </p:nvSpPr>
        <p:spPr>
          <a:xfrm>
            <a:off x="548640" y="1691640"/>
            <a:ext cx="3520440" cy="73152"/>
          </a:xfrm>
          <a:prstGeom prst="rect">
            <a:avLst/>
          </a:prstGeom>
          <a:solidFill>
            <a:srgbClr val="2DD4BF"/>
          </a:solidFill>
          <a:ln/>
        </p:spPr>
      </p:sp>
      <p:sp>
        <p:nvSpPr>
          <p:cNvPr id="6" name="Text 4"/>
          <p:cNvSpPr/>
          <p:nvPr/>
        </p:nvSpPr>
        <p:spPr>
          <a:xfrm>
            <a:off x="777240" y="1920240"/>
            <a:ext cx="3063240" cy="457200"/>
          </a:xfrm>
          <a:prstGeom prst="rect">
            <a:avLst/>
          </a:prstGeom>
          <a:noFill/>
          <a:ln/>
        </p:spPr>
        <p:txBody>
          <a:bodyPr wrap="square" rtlCol="0" anchor="ctr"/>
          <a:lstStyle/>
          <a:p>
            <a:pPr indent="0" marL="0">
              <a:buNone/>
            </a:pPr>
            <a:r>
              <a:rPr lang="en-US" sz="2200" b="1" dirty="0">
                <a:solidFill>
                  <a:srgbClr val="112A45"/>
                </a:solidFill>
                <a:latin typeface="Georgia" pitchFamily="34" charset="0"/>
                <a:ea typeface="Georgia" pitchFamily="34" charset="-122"/>
                <a:cs typeface="Georgia" pitchFamily="34" charset="-120"/>
              </a:rPr>
              <a:t>COUNT</a:t>
            </a:r>
            <a:endParaRPr lang="en-US" sz="2200" dirty="0"/>
          </a:p>
        </p:txBody>
      </p:sp>
      <p:sp>
        <p:nvSpPr>
          <p:cNvPr id="7" name="Text 5"/>
          <p:cNvSpPr/>
          <p:nvPr/>
        </p:nvSpPr>
        <p:spPr>
          <a:xfrm>
            <a:off x="777240" y="2377440"/>
            <a:ext cx="3063240" cy="320040"/>
          </a:xfrm>
          <a:prstGeom prst="rect">
            <a:avLst/>
          </a:prstGeom>
          <a:noFill/>
          <a:ln/>
        </p:spPr>
        <p:txBody>
          <a:bodyPr wrap="square" rtlCol="0" anchor="ctr"/>
          <a:lstStyle/>
          <a:p>
            <a:pPr indent="0" marL="0">
              <a:buNone/>
            </a:pPr>
            <a:r>
              <a:rPr lang="en-US" sz="1200" dirty="0">
                <a:solidFill>
                  <a:srgbClr val="50606F"/>
                </a:solidFill>
                <a:latin typeface="Calibri" pitchFamily="34" charset="0"/>
                <a:ea typeface="Calibri" pitchFamily="34" charset="-122"/>
                <a:cs typeface="Calibri" pitchFamily="34" charset="-120"/>
              </a:rPr>
              <a:t>Total Orders</a:t>
            </a:r>
            <a:endParaRPr lang="en-US" sz="1200" dirty="0"/>
          </a:p>
        </p:txBody>
      </p:sp>
      <p:sp>
        <p:nvSpPr>
          <p:cNvPr id="8" name="Shape 6"/>
          <p:cNvSpPr/>
          <p:nvPr/>
        </p:nvSpPr>
        <p:spPr>
          <a:xfrm>
            <a:off x="777240" y="2880360"/>
            <a:ext cx="3063240" cy="960120"/>
          </a:xfrm>
          <a:prstGeom prst="roundRect">
            <a:avLst>
              <a:gd name="adj" fmla="val 5714"/>
            </a:avLst>
          </a:prstGeom>
          <a:solidFill>
            <a:srgbClr val="13293F"/>
          </a:solidFill>
          <a:ln/>
        </p:spPr>
      </p:sp>
      <p:sp>
        <p:nvSpPr>
          <p:cNvPr id="9" name="Text 7"/>
          <p:cNvSpPr/>
          <p:nvPr/>
        </p:nvSpPr>
        <p:spPr>
          <a:xfrm>
            <a:off x="914400" y="3063240"/>
            <a:ext cx="2788920" cy="640080"/>
          </a:xfrm>
          <a:prstGeom prst="rect">
            <a:avLst/>
          </a:prstGeom>
          <a:noFill/>
          <a:ln/>
        </p:spPr>
        <p:txBody>
          <a:bodyPr wrap="square" rtlCol="0" anchor="t"/>
          <a:lstStyle/>
          <a:p>
            <a:pPr indent="0" marL="0">
              <a:buNone/>
            </a:pPr>
            <a:r>
              <a:rPr lang="en-US" sz="1150" dirty="0">
                <a:solidFill>
                  <a:srgbClr val="2DD4BF"/>
                </a:solidFill>
                <a:latin typeface="Consolas" pitchFamily="34" charset="0"/>
                <a:ea typeface="Consolas" pitchFamily="34" charset="-122"/>
                <a:cs typeface="Consolas" pitchFamily="34" charset="-120"/>
              </a:rPr>
              <a:t>df['OrderID'].count()</a:t>
            </a:r>
            <a:endParaRPr lang="en-US" sz="1150" dirty="0"/>
          </a:p>
        </p:txBody>
      </p:sp>
      <p:sp>
        <p:nvSpPr>
          <p:cNvPr id="10" name="Shape 8"/>
          <p:cNvSpPr/>
          <p:nvPr/>
        </p:nvSpPr>
        <p:spPr>
          <a:xfrm>
            <a:off x="4343400" y="1691640"/>
            <a:ext cx="3520440" cy="2377440"/>
          </a:xfrm>
          <a:prstGeom prst="roundRect">
            <a:avLst>
              <a:gd name="adj" fmla="val 3077"/>
            </a:avLst>
          </a:prstGeom>
          <a:solidFill>
            <a:srgbClr val="F4F7FA"/>
          </a:solidFill>
          <a:ln/>
        </p:spPr>
      </p:sp>
      <p:sp>
        <p:nvSpPr>
          <p:cNvPr id="11" name="Shape 9"/>
          <p:cNvSpPr/>
          <p:nvPr/>
        </p:nvSpPr>
        <p:spPr>
          <a:xfrm>
            <a:off x="4343400" y="1691640"/>
            <a:ext cx="3520440" cy="73152"/>
          </a:xfrm>
          <a:prstGeom prst="rect">
            <a:avLst/>
          </a:prstGeom>
          <a:solidFill>
            <a:srgbClr val="F5A524"/>
          </a:solidFill>
          <a:ln/>
        </p:spPr>
      </p:sp>
      <p:sp>
        <p:nvSpPr>
          <p:cNvPr id="12" name="Text 10"/>
          <p:cNvSpPr/>
          <p:nvPr/>
        </p:nvSpPr>
        <p:spPr>
          <a:xfrm>
            <a:off x="4572000" y="1920240"/>
            <a:ext cx="3063240" cy="457200"/>
          </a:xfrm>
          <a:prstGeom prst="rect">
            <a:avLst/>
          </a:prstGeom>
          <a:noFill/>
          <a:ln/>
        </p:spPr>
        <p:txBody>
          <a:bodyPr wrap="square" rtlCol="0" anchor="ctr"/>
          <a:lstStyle/>
          <a:p>
            <a:pPr indent="0" marL="0">
              <a:buNone/>
            </a:pPr>
            <a:r>
              <a:rPr lang="en-US" sz="2200" b="1" dirty="0">
                <a:solidFill>
                  <a:srgbClr val="112A45"/>
                </a:solidFill>
                <a:latin typeface="Georgia" pitchFamily="34" charset="0"/>
                <a:ea typeface="Georgia" pitchFamily="34" charset="-122"/>
                <a:cs typeface="Georgia" pitchFamily="34" charset="-120"/>
              </a:rPr>
              <a:t>SUM</a:t>
            </a:r>
            <a:endParaRPr lang="en-US" sz="2200" dirty="0"/>
          </a:p>
        </p:txBody>
      </p:sp>
      <p:sp>
        <p:nvSpPr>
          <p:cNvPr id="13" name="Text 11"/>
          <p:cNvSpPr/>
          <p:nvPr/>
        </p:nvSpPr>
        <p:spPr>
          <a:xfrm>
            <a:off x="4572000" y="2377440"/>
            <a:ext cx="3063240" cy="320040"/>
          </a:xfrm>
          <a:prstGeom prst="rect">
            <a:avLst/>
          </a:prstGeom>
          <a:noFill/>
          <a:ln/>
        </p:spPr>
        <p:txBody>
          <a:bodyPr wrap="square" rtlCol="0" anchor="ctr"/>
          <a:lstStyle/>
          <a:p>
            <a:pPr indent="0" marL="0">
              <a:buNone/>
            </a:pPr>
            <a:r>
              <a:rPr lang="en-US" sz="1200" dirty="0">
                <a:solidFill>
                  <a:srgbClr val="50606F"/>
                </a:solidFill>
                <a:latin typeface="Calibri" pitchFamily="34" charset="0"/>
                <a:ea typeface="Calibri" pitchFamily="34" charset="-122"/>
                <a:cs typeface="Calibri" pitchFamily="34" charset="-120"/>
              </a:rPr>
              <a:t>Total Revenue</a:t>
            </a:r>
            <a:endParaRPr lang="en-US" sz="1200" dirty="0"/>
          </a:p>
        </p:txBody>
      </p:sp>
      <p:sp>
        <p:nvSpPr>
          <p:cNvPr id="14" name="Shape 12"/>
          <p:cNvSpPr/>
          <p:nvPr/>
        </p:nvSpPr>
        <p:spPr>
          <a:xfrm>
            <a:off x="4572000" y="2880360"/>
            <a:ext cx="3063240" cy="960120"/>
          </a:xfrm>
          <a:prstGeom prst="roundRect">
            <a:avLst>
              <a:gd name="adj" fmla="val 5714"/>
            </a:avLst>
          </a:prstGeom>
          <a:solidFill>
            <a:srgbClr val="13293F"/>
          </a:solidFill>
          <a:ln/>
        </p:spPr>
      </p:sp>
      <p:sp>
        <p:nvSpPr>
          <p:cNvPr id="15" name="Text 13"/>
          <p:cNvSpPr/>
          <p:nvPr/>
        </p:nvSpPr>
        <p:spPr>
          <a:xfrm>
            <a:off x="4709160" y="3063240"/>
            <a:ext cx="2788920" cy="640080"/>
          </a:xfrm>
          <a:prstGeom prst="rect">
            <a:avLst/>
          </a:prstGeom>
          <a:noFill/>
          <a:ln/>
        </p:spPr>
        <p:txBody>
          <a:bodyPr wrap="square" rtlCol="0" anchor="t"/>
          <a:lstStyle/>
          <a:p>
            <a:pPr indent="0" marL="0">
              <a:buNone/>
            </a:pPr>
            <a:r>
              <a:rPr lang="en-US" sz="1150" dirty="0">
                <a:solidFill>
                  <a:srgbClr val="2DD4BF"/>
                </a:solidFill>
                <a:latin typeface="Consolas" pitchFamily="34" charset="0"/>
                <a:ea typeface="Consolas" pitchFamily="34" charset="-122"/>
                <a:cs typeface="Consolas" pitchFamily="34" charset="-120"/>
              </a:rPr>
              <a:t>df['TotalPrice'].sum()</a:t>
            </a:r>
            <a:endParaRPr lang="en-US" sz="1150" dirty="0"/>
          </a:p>
        </p:txBody>
      </p:sp>
      <p:sp>
        <p:nvSpPr>
          <p:cNvPr id="16" name="Shape 14"/>
          <p:cNvSpPr/>
          <p:nvPr/>
        </p:nvSpPr>
        <p:spPr>
          <a:xfrm>
            <a:off x="8138160" y="1691640"/>
            <a:ext cx="3520440" cy="2377440"/>
          </a:xfrm>
          <a:prstGeom prst="roundRect">
            <a:avLst>
              <a:gd name="adj" fmla="val 3077"/>
            </a:avLst>
          </a:prstGeom>
          <a:solidFill>
            <a:srgbClr val="F4F7FA"/>
          </a:solidFill>
          <a:ln/>
        </p:spPr>
      </p:sp>
      <p:sp>
        <p:nvSpPr>
          <p:cNvPr id="17" name="Shape 15"/>
          <p:cNvSpPr/>
          <p:nvPr/>
        </p:nvSpPr>
        <p:spPr>
          <a:xfrm>
            <a:off x="8138160" y="1691640"/>
            <a:ext cx="3520440" cy="73152"/>
          </a:xfrm>
          <a:prstGeom prst="rect">
            <a:avLst/>
          </a:prstGeom>
          <a:solidFill>
            <a:srgbClr val="5B8DEF"/>
          </a:solidFill>
          <a:ln/>
        </p:spPr>
      </p:sp>
      <p:sp>
        <p:nvSpPr>
          <p:cNvPr id="18" name="Text 16"/>
          <p:cNvSpPr/>
          <p:nvPr/>
        </p:nvSpPr>
        <p:spPr>
          <a:xfrm>
            <a:off x="8366760" y="1920240"/>
            <a:ext cx="3063240" cy="457200"/>
          </a:xfrm>
          <a:prstGeom prst="rect">
            <a:avLst/>
          </a:prstGeom>
          <a:noFill/>
          <a:ln/>
        </p:spPr>
        <p:txBody>
          <a:bodyPr wrap="square" rtlCol="0" anchor="ctr"/>
          <a:lstStyle/>
          <a:p>
            <a:pPr indent="0" marL="0">
              <a:buNone/>
            </a:pPr>
            <a:r>
              <a:rPr lang="en-US" sz="2200" b="1" dirty="0">
                <a:solidFill>
                  <a:srgbClr val="112A45"/>
                </a:solidFill>
                <a:latin typeface="Georgia" pitchFamily="34" charset="0"/>
                <a:ea typeface="Georgia" pitchFamily="34" charset="-122"/>
                <a:cs typeface="Georgia" pitchFamily="34" charset="-120"/>
              </a:rPr>
              <a:t>AVG</a:t>
            </a:r>
            <a:endParaRPr lang="en-US" sz="2200" dirty="0"/>
          </a:p>
        </p:txBody>
      </p:sp>
      <p:sp>
        <p:nvSpPr>
          <p:cNvPr id="19" name="Text 17"/>
          <p:cNvSpPr/>
          <p:nvPr/>
        </p:nvSpPr>
        <p:spPr>
          <a:xfrm>
            <a:off x="8366760" y="2377440"/>
            <a:ext cx="3063240" cy="320040"/>
          </a:xfrm>
          <a:prstGeom prst="rect">
            <a:avLst/>
          </a:prstGeom>
          <a:noFill/>
          <a:ln/>
        </p:spPr>
        <p:txBody>
          <a:bodyPr wrap="square" rtlCol="0" anchor="ctr"/>
          <a:lstStyle/>
          <a:p>
            <a:pPr indent="0" marL="0">
              <a:buNone/>
            </a:pPr>
            <a:r>
              <a:rPr lang="en-US" sz="1200" dirty="0">
                <a:solidFill>
                  <a:srgbClr val="50606F"/>
                </a:solidFill>
                <a:latin typeface="Calibri" pitchFamily="34" charset="0"/>
                <a:ea typeface="Calibri" pitchFamily="34" charset="-122"/>
                <a:cs typeface="Calibri" pitchFamily="34" charset="-120"/>
              </a:rPr>
              <a:t>Average Order Value</a:t>
            </a:r>
            <a:endParaRPr lang="en-US" sz="1200" dirty="0"/>
          </a:p>
        </p:txBody>
      </p:sp>
      <p:sp>
        <p:nvSpPr>
          <p:cNvPr id="20" name="Shape 18"/>
          <p:cNvSpPr/>
          <p:nvPr/>
        </p:nvSpPr>
        <p:spPr>
          <a:xfrm>
            <a:off x="8366760" y="2880360"/>
            <a:ext cx="3063240" cy="960120"/>
          </a:xfrm>
          <a:prstGeom prst="roundRect">
            <a:avLst>
              <a:gd name="adj" fmla="val 5714"/>
            </a:avLst>
          </a:prstGeom>
          <a:solidFill>
            <a:srgbClr val="13293F"/>
          </a:solidFill>
          <a:ln/>
        </p:spPr>
      </p:sp>
      <p:sp>
        <p:nvSpPr>
          <p:cNvPr id="21" name="Text 19"/>
          <p:cNvSpPr/>
          <p:nvPr/>
        </p:nvSpPr>
        <p:spPr>
          <a:xfrm>
            <a:off x="8503920" y="3063240"/>
            <a:ext cx="2788920" cy="640080"/>
          </a:xfrm>
          <a:prstGeom prst="rect">
            <a:avLst/>
          </a:prstGeom>
          <a:noFill/>
          <a:ln/>
        </p:spPr>
        <p:txBody>
          <a:bodyPr wrap="square" rtlCol="0" anchor="t"/>
          <a:lstStyle/>
          <a:p>
            <a:pPr indent="0" marL="0">
              <a:buNone/>
            </a:pPr>
            <a:r>
              <a:rPr lang="en-US" sz="1150" dirty="0">
                <a:solidFill>
                  <a:srgbClr val="2DD4BF"/>
                </a:solidFill>
                <a:latin typeface="Consolas" pitchFamily="34" charset="0"/>
                <a:ea typeface="Consolas" pitchFamily="34" charset="-122"/>
                <a:cs typeface="Consolas" pitchFamily="34" charset="-120"/>
              </a:rPr>
              <a:t>df['TotalPrice'].mean()</a:t>
            </a:r>
            <a:endParaRPr lang="en-US" sz="1150" dirty="0"/>
          </a:p>
        </p:txBody>
      </p:sp>
      <p:sp>
        <p:nvSpPr>
          <p:cNvPr id="22" name="Shape 20"/>
          <p:cNvSpPr/>
          <p:nvPr/>
        </p:nvSpPr>
        <p:spPr>
          <a:xfrm>
            <a:off x="548640" y="4434840"/>
            <a:ext cx="10881360" cy="1554480"/>
          </a:xfrm>
          <a:prstGeom prst="roundRect">
            <a:avLst>
              <a:gd name="adj" fmla="val 4706"/>
            </a:avLst>
          </a:prstGeom>
          <a:solidFill>
            <a:srgbClr val="FFF6E8"/>
          </a:solidFill>
          <a:ln/>
        </p:spPr>
      </p:sp>
      <p:sp>
        <p:nvSpPr>
          <p:cNvPr id="23" name="Text 21"/>
          <p:cNvSpPr/>
          <p:nvPr/>
        </p:nvSpPr>
        <p:spPr>
          <a:xfrm>
            <a:off x="822960" y="4617720"/>
            <a:ext cx="5486400" cy="320040"/>
          </a:xfrm>
          <a:prstGeom prst="rect">
            <a:avLst/>
          </a:prstGeom>
          <a:noFill/>
          <a:ln/>
        </p:spPr>
        <p:txBody>
          <a:bodyPr wrap="square" rtlCol="0" anchor="ctr"/>
          <a:lstStyle/>
          <a:p>
            <a:pPr indent="0" marL="0">
              <a:buNone/>
            </a:pPr>
            <a:r>
              <a:rPr lang="en-US" sz="1300" b="1" dirty="0">
                <a:solidFill>
                  <a:srgbClr val="8A5A00"/>
                </a:solidFill>
                <a:latin typeface="Calibri" pitchFamily="34" charset="0"/>
                <a:ea typeface="Calibri" pitchFamily="34" charset="-122"/>
                <a:cs typeface="Calibri" pitchFamily="34" charset="-120"/>
              </a:rPr>
              <a:t>⚠  NULL handling</a:t>
            </a:r>
            <a:endParaRPr lang="en-US" sz="1300" dirty="0"/>
          </a:p>
        </p:txBody>
      </p:sp>
      <p:sp>
        <p:nvSpPr>
          <p:cNvPr id="24" name="Text 22"/>
          <p:cNvSpPr/>
          <p:nvPr/>
        </p:nvSpPr>
        <p:spPr>
          <a:xfrm>
            <a:off x="822960" y="4956048"/>
            <a:ext cx="10332720" cy="1005840"/>
          </a:xfrm>
          <a:prstGeom prst="rect">
            <a:avLst/>
          </a:prstGeom>
          <a:noFill/>
          <a:ln/>
        </p:spPr>
        <p:txBody>
          <a:bodyPr wrap="square" rtlCol="0" anchor="ctr"/>
          <a:lstStyle/>
          <a:p>
            <a:pPr indent="0" marL="0">
              <a:lnSpc>
                <a:spcPct val="125000"/>
              </a:lnSpc>
              <a:buNone/>
            </a:pPr>
            <a:r>
              <a:rPr lang="en-US" sz="1200" dirty="0">
                <a:solidFill>
                  <a:srgbClr val="5E4200"/>
                </a:solidFill>
                <a:latin typeface="Calibri" pitchFamily="34" charset="0"/>
                <a:ea typeface="Calibri" pitchFamily="34" charset="-122"/>
                <a:cs typeface="Calibri" pitchFamily="34" charset="-120"/>
              </a:rPr>
              <a:t>count() on a column ignores NaN by default (df['OrderID'].count() differs from len(df) if any OrderID is missing), while sum() and mean() also skip NaN silently — the same behavior as SQL's COUNT(col) vs COUNT(*), and SUM()/AVG() ignoring NULLs. Worth checking df.isna().sum() before trusting these numbers on messy data.</a:t>
            </a:r>
            <a:endParaRPr lang="en-US" sz="1200" dirty="0"/>
          </a:p>
        </p:txBody>
      </p:sp>
      <p:sp>
        <p:nvSpPr>
          <p:cNvPr id="25" name="Text 23"/>
          <p:cNvSpPr/>
          <p:nvPr/>
        </p:nvSpPr>
        <p:spPr>
          <a:xfrm>
            <a:off x="11475720" y="6446520"/>
            <a:ext cx="548640" cy="274320"/>
          </a:xfrm>
          <a:prstGeom prst="rect">
            <a:avLst/>
          </a:prstGeom>
          <a:noFill/>
          <a:ln/>
        </p:spPr>
        <p:txBody>
          <a:bodyPr wrap="square" rtlCol="0" anchor="ctr"/>
          <a:lstStyle/>
          <a:p>
            <a:pPr indent="0" marL="0">
              <a:buNone/>
            </a:pPr>
            <a:r>
              <a:rPr lang="en-US" sz="1000" dirty="0">
                <a:solidFill>
                  <a:srgbClr val="9FB3C8"/>
                </a:solidFill>
                <a:latin typeface="Consolas" pitchFamily="34" charset="0"/>
                <a:ea typeface="Consolas" pitchFamily="34" charset="-122"/>
                <a:cs typeface="Consolas"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E33"/>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DD4BF"/>
                </a:solidFill>
                <a:latin typeface="Consolas" pitchFamily="34" charset="0"/>
                <a:ea typeface="Consolas" pitchFamily="34" charset="-122"/>
                <a:cs typeface="Consolas" pitchFamily="34" charset="-120"/>
              </a:rPr>
              <a:t>STEP 4 — GROUP: PRODUCT</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Revenue and volume by product</a:t>
            </a:r>
            <a:endParaRPr lang="en-US" sz="2700" dirty="0"/>
          </a:p>
        </p:txBody>
      </p:sp>
      <p:sp>
        <p:nvSpPr>
          <p:cNvPr id="4" name="Shape 2"/>
          <p:cNvSpPr/>
          <p:nvPr/>
        </p:nvSpPr>
        <p:spPr>
          <a:xfrm>
            <a:off x="548640" y="1600200"/>
            <a:ext cx="6309360" cy="3200400"/>
          </a:xfrm>
          <a:prstGeom prst="roundRect">
            <a:avLst>
              <a:gd name="adj" fmla="val 2286"/>
            </a:avLst>
          </a:prstGeom>
          <a:solidFill>
            <a:srgbClr val="13293F"/>
          </a:solidFill>
          <a:ln w="12700">
            <a:solidFill>
              <a:srgbClr val="1F3B57"/>
            </a:solidFill>
            <a:prstDash val="solid"/>
          </a:ln>
        </p:spPr>
      </p:sp>
      <p:sp>
        <p:nvSpPr>
          <p:cNvPr id="5" name="Text 3"/>
          <p:cNvSpPr/>
          <p:nvPr/>
        </p:nvSpPr>
        <p:spPr>
          <a:xfrm>
            <a:off x="777240" y="1764792"/>
            <a:ext cx="5852160" cy="2871216"/>
          </a:xfrm>
          <a:prstGeom prst="rect">
            <a:avLst/>
          </a:prstGeom>
          <a:noFill/>
          <a:ln/>
        </p:spPr>
        <p:txBody>
          <a:bodyPr wrap="square" lIns="0" tIns="0" rIns="0" bIns="0" rtlCol="0" anchor="t"/>
          <a:lstStyle/>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product_analysis = (</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  df.groupby('Product')</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    .agg(</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      Total_Orders=('OrderID','count'),</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      Total_Quantity=('Quantity','sum'),</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      Revenue=('TotalPrice','sum'),</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      Average_Price=('TotalPrice','mean')</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    )</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    .sort_values(by='Revenue', ascending=False)</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a:t>
            </a:r>
            <a:endParaRPr lang="en-US" sz="1250" dirty="0"/>
          </a:p>
        </p:txBody>
      </p:sp>
      <p:sp>
        <p:nvSpPr>
          <p:cNvPr id="6" name="Text 4"/>
          <p:cNvSpPr/>
          <p:nvPr/>
        </p:nvSpPr>
        <p:spPr>
          <a:xfrm>
            <a:off x="7132320" y="1691640"/>
            <a:ext cx="4480560" cy="320040"/>
          </a:xfrm>
          <a:prstGeom prst="rect">
            <a:avLst/>
          </a:prstGeom>
          <a:noFill/>
          <a:ln/>
        </p:spPr>
        <p:txBody>
          <a:bodyPr wrap="square" rtlCol="0" anchor="ctr"/>
          <a:lstStyle/>
          <a:p>
            <a:pPr indent="0" marL="0">
              <a:buNone/>
            </a:pPr>
            <a:r>
              <a:rPr lang="en-US" sz="1350" b="1" dirty="0">
                <a:solidFill>
                  <a:srgbClr val="2DD4BF"/>
                </a:solidFill>
                <a:latin typeface="Calibri" pitchFamily="34" charset="0"/>
                <a:ea typeface="Calibri" pitchFamily="34" charset="-122"/>
                <a:cs typeface="Calibri" pitchFamily="34" charset="-120"/>
              </a:rPr>
              <a:t>What this buys you</a:t>
            </a:r>
            <a:endParaRPr lang="en-US" sz="1350" dirty="0"/>
          </a:p>
        </p:txBody>
      </p:sp>
      <p:sp>
        <p:nvSpPr>
          <p:cNvPr id="7" name="Shape 5"/>
          <p:cNvSpPr/>
          <p:nvPr/>
        </p:nvSpPr>
        <p:spPr>
          <a:xfrm>
            <a:off x="7132320" y="2212848"/>
            <a:ext cx="109728" cy="109728"/>
          </a:xfrm>
          <a:prstGeom prst="ellipse">
            <a:avLst/>
          </a:prstGeom>
          <a:solidFill>
            <a:srgbClr val="F5A524"/>
          </a:solidFill>
          <a:ln/>
        </p:spPr>
      </p:sp>
      <p:sp>
        <p:nvSpPr>
          <p:cNvPr id="8" name="Text 6"/>
          <p:cNvSpPr/>
          <p:nvPr/>
        </p:nvSpPr>
        <p:spPr>
          <a:xfrm>
            <a:off x="7315200" y="2103120"/>
            <a:ext cx="4297680" cy="868680"/>
          </a:xfrm>
          <a:prstGeom prst="rect">
            <a:avLst/>
          </a:prstGeom>
          <a:noFill/>
          <a:ln/>
        </p:spPr>
        <p:txBody>
          <a:bodyPr wrap="square" rtlCol="0" anchor="ctr"/>
          <a:lstStyle/>
          <a:p>
            <a:pPr indent="0" marL="0">
              <a:lnSpc>
                <a:spcPct val="125000"/>
              </a:lnSpc>
              <a:buNone/>
            </a:pPr>
            <a:r>
              <a:rPr lang="en-US" sz="1200" dirty="0">
                <a:solidFill>
                  <a:srgbClr val="D7E4EF"/>
                </a:solidFill>
                <a:latin typeface="Calibri" pitchFamily="34" charset="0"/>
                <a:ea typeface="Calibri" pitchFamily="34" charset="-122"/>
                <a:cs typeface="Calibri" pitchFamily="34" charset="-120"/>
              </a:rPr>
              <a:t>groupby('Product') buckets every row into a category — the pandas equivalent of GROUP BY Product.</a:t>
            </a:r>
            <a:endParaRPr lang="en-US" sz="1200" dirty="0"/>
          </a:p>
        </p:txBody>
      </p:sp>
      <p:sp>
        <p:nvSpPr>
          <p:cNvPr id="9" name="Shape 7"/>
          <p:cNvSpPr/>
          <p:nvPr/>
        </p:nvSpPr>
        <p:spPr>
          <a:xfrm>
            <a:off x="7132320" y="3127248"/>
            <a:ext cx="109728" cy="109728"/>
          </a:xfrm>
          <a:prstGeom prst="ellipse">
            <a:avLst/>
          </a:prstGeom>
          <a:solidFill>
            <a:srgbClr val="F5A524"/>
          </a:solidFill>
          <a:ln/>
        </p:spPr>
      </p:sp>
      <p:sp>
        <p:nvSpPr>
          <p:cNvPr id="10" name="Text 8"/>
          <p:cNvSpPr/>
          <p:nvPr/>
        </p:nvSpPr>
        <p:spPr>
          <a:xfrm>
            <a:off x="7315200" y="3017520"/>
            <a:ext cx="4297680" cy="868680"/>
          </a:xfrm>
          <a:prstGeom prst="rect">
            <a:avLst/>
          </a:prstGeom>
          <a:noFill/>
          <a:ln/>
        </p:spPr>
        <p:txBody>
          <a:bodyPr wrap="square" rtlCol="0" anchor="ctr"/>
          <a:lstStyle/>
          <a:p>
            <a:pPr indent="0" marL="0">
              <a:lnSpc>
                <a:spcPct val="125000"/>
              </a:lnSpc>
              <a:buNone/>
            </a:pPr>
            <a:r>
              <a:rPr lang="en-US" sz="1200" dirty="0">
                <a:solidFill>
                  <a:srgbClr val="D7E4EF"/>
                </a:solidFill>
                <a:latin typeface="Calibri" pitchFamily="34" charset="0"/>
                <a:ea typeface="Calibri" pitchFamily="34" charset="-122"/>
                <a:cs typeface="Calibri" pitchFamily="34" charset="-120"/>
              </a:rPr>
              <a:t>Named aggregation (Total_Orders=(...)) mirrors SELECT COUNT(OrderID) AS Total_Orders in the same query.</a:t>
            </a:r>
            <a:endParaRPr lang="en-US" sz="1200" dirty="0"/>
          </a:p>
        </p:txBody>
      </p:sp>
      <p:sp>
        <p:nvSpPr>
          <p:cNvPr id="11" name="Shape 9"/>
          <p:cNvSpPr/>
          <p:nvPr/>
        </p:nvSpPr>
        <p:spPr>
          <a:xfrm>
            <a:off x="7132320" y="4041648"/>
            <a:ext cx="109728" cy="109728"/>
          </a:xfrm>
          <a:prstGeom prst="ellipse">
            <a:avLst/>
          </a:prstGeom>
          <a:solidFill>
            <a:srgbClr val="F5A524"/>
          </a:solidFill>
          <a:ln/>
        </p:spPr>
      </p:sp>
      <p:sp>
        <p:nvSpPr>
          <p:cNvPr id="12" name="Text 10"/>
          <p:cNvSpPr/>
          <p:nvPr/>
        </p:nvSpPr>
        <p:spPr>
          <a:xfrm>
            <a:off x="7315200" y="3931920"/>
            <a:ext cx="4297680" cy="868680"/>
          </a:xfrm>
          <a:prstGeom prst="rect">
            <a:avLst/>
          </a:prstGeom>
          <a:noFill/>
          <a:ln/>
        </p:spPr>
        <p:txBody>
          <a:bodyPr wrap="square" rtlCol="0" anchor="ctr"/>
          <a:lstStyle/>
          <a:p>
            <a:pPr indent="0" marL="0">
              <a:lnSpc>
                <a:spcPct val="125000"/>
              </a:lnSpc>
              <a:buNone/>
            </a:pPr>
            <a:r>
              <a:rPr lang="en-US" sz="1200" dirty="0">
                <a:solidFill>
                  <a:srgbClr val="D7E4EF"/>
                </a:solidFill>
                <a:latin typeface="Calibri" pitchFamily="34" charset="0"/>
                <a:ea typeface="Calibri" pitchFamily="34" charset="-122"/>
                <a:cs typeface="Calibri" pitchFamily="34" charset="-120"/>
              </a:rPr>
              <a:t>Chaining sort_values(Revenue) after the aggregation ranks products by revenue in one pass.</a:t>
            </a:r>
            <a:endParaRPr lang="en-US" sz="1200" dirty="0"/>
          </a:p>
        </p:txBody>
      </p:sp>
      <p:sp>
        <p:nvSpPr>
          <p:cNvPr id="13" name="Text 11"/>
          <p:cNvSpPr/>
          <p:nvPr/>
        </p:nvSpPr>
        <p:spPr>
          <a:xfrm>
            <a:off x="11475720" y="6446520"/>
            <a:ext cx="548640" cy="274320"/>
          </a:xfrm>
          <a:prstGeom prst="rect">
            <a:avLst/>
          </a:prstGeom>
          <a:noFill/>
          <a:ln/>
        </p:spPr>
        <p:txBody>
          <a:bodyPr wrap="square" rtlCol="0" anchor="ctr"/>
          <a:lstStyle/>
          <a:p>
            <a:pPr indent="0" marL="0">
              <a:buNone/>
            </a:pPr>
            <a:r>
              <a:rPr lang="en-US" sz="1000" dirty="0">
                <a:solidFill>
                  <a:srgbClr val="9FB3C8"/>
                </a:solidFill>
                <a:latin typeface="Consolas" pitchFamily="34" charset="0"/>
                <a:ea typeface="Consolas" pitchFamily="34" charset="-122"/>
                <a:cs typeface="Consolas"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DD4BF"/>
                </a:solidFill>
                <a:latin typeface="Consolas" pitchFamily="34" charset="0"/>
                <a:ea typeface="Consolas" pitchFamily="34" charset="-122"/>
                <a:cs typeface="Consolas" pitchFamily="34" charset="-120"/>
              </a:rPr>
              <a:t>STEP 4 — GROUP: PAYMENT &amp; REFERRAL</a:t>
            </a:r>
            <a:endParaRPr lang="en-US" sz="1200" dirty="0"/>
          </a:p>
        </p:txBody>
      </p:sp>
      <p:sp>
        <p:nvSpPr>
          <p:cNvPr id="3" name="Text 1"/>
          <p:cNvSpPr/>
          <p:nvPr/>
        </p:nvSpPr>
        <p:spPr>
          <a:xfrm>
            <a:off x="548640" y="685800"/>
            <a:ext cx="10972800" cy="822960"/>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Two more grouping dimensions</a:t>
            </a:r>
            <a:endParaRPr lang="en-US" sz="2700" dirty="0"/>
          </a:p>
        </p:txBody>
      </p:sp>
      <p:sp>
        <p:nvSpPr>
          <p:cNvPr id="4" name="Text 2"/>
          <p:cNvSpPr/>
          <p:nvPr/>
        </p:nvSpPr>
        <p:spPr>
          <a:xfrm>
            <a:off x="548640" y="1554480"/>
            <a:ext cx="5303520" cy="320040"/>
          </a:xfrm>
          <a:prstGeom prst="rect">
            <a:avLst/>
          </a:prstGeom>
          <a:noFill/>
          <a:ln/>
        </p:spPr>
        <p:txBody>
          <a:bodyPr wrap="square" rtlCol="0" anchor="ctr"/>
          <a:lstStyle/>
          <a:p>
            <a:pPr indent="0" marL="0">
              <a:buNone/>
            </a:pPr>
            <a:r>
              <a:rPr lang="en-US" sz="1400" b="1" dirty="0">
                <a:solidFill>
                  <a:srgbClr val="112A45"/>
                </a:solidFill>
                <a:latin typeface="Calibri" pitchFamily="34" charset="0"/>
                <a:ea typeface="Calibri" pitchFamily="34" charset="-122"/>
                <a:cs typeface="Calibri" pitchFamily="34" charset="-120"/>
              </a:rPr>
              <a:t>Payment method</a:t>
            </a:r>
            <a:endParaRPr lang="en-US" sz="1400" dirty="0"/>
          </a:p>
        </p:txBody>
      </p:sp>
      <p:sp>
        <p:nvSpPr>
          <p:cNvPr id="5" name="Shape 3"/>
          <p:cNvSpPr/>
          <p:nvPr/>
        </p:nvSpPr>
        <p:spPr>
          <a:xfrm>
            <a:off x="548640" y="1920240"/>
            <a:ext cx="5303520" cy="1965960"/>
          </a:xfrm>
          <a:prstGeom prst="roundRect">
            <a:avLst>
              <a:gd name="adj" fmla="val 3721"/>
            </a:avLst>
          </a:prstGeom>
          <a:solidFill>
            <a:srgbClr val="13293F"/>
          </a:solidFill>
          <a:ln w="12700">
            <a:solidFill>
              <a:srgbClr val="1F3B57"/>
            </a:solidFill>
            <a:prstDash val="solid"/>
          </a:ln>
        </p:spPr>
      </p:sp>
      <p:sp>
        <p:nvSpPr>
          <p:cNvPr id="6" name="Text 4"/>
          <p:cNvSpPr/>
          <p:nvPr/>
        </p:nvSpPr>
        <p:spPr>
          <a:xfrm>
            <a:off x="777240" y="2084832"/>
            <a:ext cx="4846320" cy="1636776"/>
          </a:xfrm>
          <a:prstGeom prst="rect">
            <a:avLst/>
          </a:prstGeom>
          <a:noFill/>
          <a:ln/>
        </p:spPr>
        <p:txBody>
          <a:bodyPr wrap="square" lIns="0" tIns="0" rIns="0" bIns="0" rtlCol="0" anchor="t"/>
          <a:lstStyle/>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payment_analysis = df.groupby(</a:t>
            </a:r>
            <a:endParaRPr lang="en-US" sz="1200" dirty="0"/>
          </a:p>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  'PaymentMethod'</a:t>
            </a:r>
            <a:endParaRPr lang="en-US" sz="1200" dirty="0"/>
          </a:p>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).agg(</a:t>
            </a:r>
            <a:endParaRPr lang="en-US" sz="1200" dirty="0"/>
          </a:p>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  Orders=('OrderID','count'),</a:t>
            </a:r>
            <a:endParaRPr lang="en-US" sz="1200" dirty="0"/>
          </a:p>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  Revenue=('TotalPrice','sum')</a:t>
            </a:r>
            <a:endParaRPr lang="en-US" sz="1200" dirty="0"/>
          </a:p>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a:t>
            </a:r>
            <a:endParaRPr lang="en-US" sz="1200" dirty="0"/>
          </a:p>
        </p:txBody>
      </p:sp>
      <p:sp>
        <p:nvSpPr>
          <p:cNvPr id="7" name="Text 5"/>
          <p:cNvSpPr/>
          <p:nvPr/>
        </p:nvSpPr>
        <p:spPr>
          <a:xfrm>
            <a:off x="548640" y="3977640"/>
            <a:ext cx="5303520" cy="640080"/>
          </a:xfrm>
          <a:prstGeom prst="rect">
            <a:avLst/>
          </a:prstGeom>
          <a:noFill/>
          <a:ln/>
        </p:spPr>
        <p:txBody>
          <a:bodyPr wrap="square" rtlCol="0" anchor="ctr"/>
          <a:lstStyle/>
          <a:p>
            <a:pPr indent="0" marL="0">
              <a:buNone/>
            </a:pPr>
            <a:r>
              <a:rPr lang="en-US" sz="1150" dirty="0">
                <a:solidFill>
                  <a:srgbClr val="50606F"/>
                </a:solidFill>
                <a:latin typeface="Calibri" pitchFamily="34" charset="0"/>
                <a:ea typeface="Calibri" pitchFamily="34" charset="-122"/>
                <a:cs typeface="Calibri" pitchFamily="34" charset="-120"/>
              </a:rPr>
              <a:t>Which channel — card, UPI, wallet, COD — carries the most orders and revenue.</a:t>
            </a:r>
            <a:endParaRPr lang="en-US" sz="1150" dirty="0"/>
          </a:p>
        </p:txBody>
      </p:sp>
      <p:sp>
        <p:nvSpPr>
          <p:cNvPr id="8" name="Text 6"/>
          <p:cNvSpPr/>
          <p:nvPr/>
        </p:nvSpPr>
        <p:spPr>
          <a:xfrm>
            <a:off x="6309360" y="1554480"/>
            <a:ext cx="5303520" cy="320040"/>
          </a:xfrm>
          <a:prstGeom prst="rect">
            <a:avLst/>
          </a:prstGeom>
          <a:noFill/>
          <a:ln/>
        </p:spPr>
        <p:txBody>
          <a:bodyPr wrap="square" rtlCol="0" anchor="ctr"/>
          <a:lstStyle/>
          <a:p>
            <a:pPr indent="0" marL="0">
              <a:buNone/>
            </a:pPr>
            <a:r>
              <a:rPr lang="en-US" sz="1400" b="1" dirty="0">
                <a:solidFill>
                  <a:srgbClr val="112A45"/>
                </a:solidFill>
                <a:latin typeface="Calibri" pitchFamily="34" charset="0"/>
                <a:ea typeface="Calibri" pitchFamily="34" charset="-122"/>
                <a:cs typeface="Calibri" pitchFamily="34" charset="-120"/>
              </a:rPr>
              <a:t>Referral source</a:t>
            </a:r>
            <a:endParaRPr lang="en-US" sz="1400" dirty="0"/>
          </a:p>
        </p:txBody>
      </p:sp>
      <p:sp>
        <p:nvSpPr>
          <p:cNvPr id="9" name="Shape 7"/>
          <p:cNvSpPr/>
          <p:nvPr/>
        </p:nvSpPr>
        <p:spPr>
          <a:xfrm>
            <a:off x="6309360" y="1920240"/>
            <a:ext cx="5303520" cy="1965960"/>
          </a:xfrm>
          <a:prstGeom prst="roundRect">
            <a:avLst>
              <a:gd name="adj" fmla="val 3721"/>
            </a:avLst>
          </a:prstGeom>
          <a:solidFill>
            <a:srgbClr val="13293F"/>
          </a:solidFill>
          <a:ln w="12700">
            <a:solidFill>
              <a:srgbClr val="1F3B57"/>
            </a:solidFill>
            <a:prstDash val="solid"/>
          </a:ln>
        </p:spPr>
      </p:sp>
      <p:sp>
        <p:nvSpPr>
          <p:cNvPr id="10" name="Text 8"/>
          <p:cNvSpPr/>
          <p:nvPr/>
        </p:nvSpPr>
        <p:spPr>
          <a:xfrm>
            <a:off x="6537960" y="2084832"/>
            <a:ext cx="4846320" cy="1636776"/>
          </a:xfrm>
          <a:prstGeom prst="rect">
            <a:avLst/>
          </a:prstGeom>
          <a:noFill/>
          <a:ln/>
        </p:spPr>
        <p:txBody>
          <a:bodyPr wrap="square" lIns="0" tIns="0" rIns="0" bIns="0" rtlCol="0" anchor="t"/>
          <a:lstStyle/>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referral_analysis = (</a:t>
            </a:r>
            <a:endParaRPr lang="en-US" sz="1200" dirty="0"/>
          </a:p>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  df.groupby('ReferralSource')</a:t>
            </a:r>
            <a:endParaRPr lang="en-US" sz="1200" dirty="0"/>
          </a:p>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    .agg(</a:t>
            </a:r>
            <a:endParaRPr lang="en-US" sz="1200" dirty="0"/>
          </a:p>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      Orders=('OrderID','count'),</a:t>
            </a:r>
            <a:endParaRPr lang="en-US" sz="1200" dirty="0"/>
          </a:p>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      Revenue=('TotalPrice','sum')</a:t>
            </a:r>
            <a:endParaRPr lang="en-US" sz="1200" dirty="0"/>
          </a:p>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    )</a:t>
            </a:r>
            <a:endParaRPr lang="en-US" sz="1200" dirty="0"/>
          </a:p>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    .sort_values('Revenue', ascending=False)</a:t>
            </a:r>
            <a:endParaRPr lang="en-US" sz="1200" dirty="0"/>
          </a:p>
          <a:p>
            <a:pPr indent="0" marL="0">
              <a:lnSpc>
                <a:spcPct val="125000"/>
              </a:lnSpc>
              <a:buNone/>
            </a:pPr>
            <a:r>
              <a:rPr lang="en-US" sz="1200" dirty="0">
                <a:solidFill>
                  <a:srgbClr val="D7E4EF"/>
                </a:solidFill>
                <a:latin typeface="Consolas" pitchFamily="34" charset="0"/>
                <a:ea typeface="Consolas" pitchFamily="34" charset="-122"/>
                <a:cs typeface="Consolas" pitchFamily="34" charset="-120"/>
              </a:rPr>
              <a:t>)</a:t>
            </a:r>
            <a:endParaRPr lang="en-US" sz="1200" dirty="0"/>
          </a:p>
        </p:txBody>
      </p:sp>
      <p:sp>
        <p:nvSpPr>
          <p:cNvPr id="11" name="Text 9"/>
          <p:cNvSpPr/>
          <p:nvPr/>
        </p:nvSpPr>
        <p:spPr>
          <a:xfrm>
            <a:off x="6309360" y="3977640"/>
            <a:ext cx="5303520" cy="640080"/>
          </a:xfrm>
          <a:prstGeom prst="rect">
            <a:avLst/>
          </a:prstGeom>
          <a:noFill/>
          <a:ln/>
        </p:spPr>
        <p:txBody>
          <a:bodyPr wrap="square" rtlCol="0" anchor="ctr"/>
          <a:lstStyle/>
          <a:p>
            <a:pPr indent="0" marL="0">
              <a:buNone/>
            </a:pPr>
            <a:r>
              <a:rPr lang="en-US" sz="1150" dirty="0">
                <a:solidFill>
                  <a:srgbClr val="50606F"/>
                </a:solidFill>
                <a:latin typeface="Calibri" pitchFamily="34" charset="0"/>
                <a:ea typeface="Calibri" pitchFamily="34" charset="-122"/>
                <a:cs typeface="Calibri" pitchFamily="34" charset="-120"/>
              </a:rPr>
              <a:t>Which acquisition channel — organic, ads, social, direct — drives the most revenue, ranked highest first.</a:t>
            </a:r>
            <a:endParaRPr lang="en-US" sz="1150" dirty="0"/>
          </a:p>
        </p:txBody>
      </p:sp>
      <p:sp>
        <p:nvSpPr>
          <p:cNvPr id="12" name="Shape 10"/>
          <p:cNvSpPr/>
          <p:nvPr/>
        </p:nvSpPr>
        <p:spPr>
          <a:xfrm>
            <a:off x="548640" y="4754880"/>
            <a:ext cx="11064240" cy="1234440"/>
          </a:xfrm>
          <a:prstGeom prst="roundRect">
            <a:avLst>
              <a:gd name="adj" fmla="val 5926"/>
            </a:avLst>
          </a:prstGeom>
          <a:solidFill>
            <a:srgbClr val="F4F7FA"/>
          </a:solidFill>
          <a:ln/>
        </p:spPr>
      </p:sp>
      <p:sp>
        <p:nvSpPr>
          <p:cNvPr id="13" name="Text 11"/>
          <p:cNvSpPr/>
          <p:nvPr/>
        </p:nvSpPr>
        <p:spPr>
          <a:xfrm>
            <a:off x="822960" y="4919472"/>
            <a:ext cx="5486400" cy="320040"/>
          </a:xfrm>
          <a:prstGeom prst="rect">
            <a:avLst/>
          </a:prstGeom>
          <a:noFill/>
          <a:ln/>
        </p:spPr>
        <p:txBody>
          <a:bodyPr wrap="square" rtlCol="0" anchor="ctr"/>
          <a:lstStyle/>
          <a:p>
            <a:pPr indent="0" marL="0">
              <a:buNone/>
            </a:pPr>
            <a:r>
              <a:rPr lang="en-US" sz="1300" b="1" dirty="0">
                <a:solidFill>
                  <a:srgbClr val="112A45"/>
                </a:solidFill>
                <a:latin typeface="Calibri" pitchFamily="34" charset="0"/>
                <a:ea typeface="Calibri" pitchFamily="34" charset="-122"/>
                <a:cs typeface="Calibri" pitchFamily="34" charset="-120"/>
              </a:rPr>
              <a:t>Same pattern, three ways</a:t>
            </a:r>
            <a:endParaRPr lang="en-US" sz="1300" dirty="0"/>
          </a:p>
        </p:txBody>
      </p:sp>
      <p:sp>
        <p:nvSpPr>
          <p:cNvPr id="14" name="Text 12"/>
          <p:cNvSpPr/>
          <p:nvPr/>
        </p:nvSpPr>
        <p:spPr>
          <a:xfrm>
            <a:off x="822960" y="5193792"/>
            <a:ext cx="10515600" cy="731520"/>
          </a:xfrm>
          <a:prstGeom prst="rect">
            <a:avLst/>
          </a:prstGeom>
          <a:noFill/>
          <a:ln/>
        </p:spPr>
        <p:txBody>
          <a:bodyPr wrap="square" rtlCol="0" anchor="ctr"/>
          <a:lstStyle/>
          <a:p>
            <a:pPr indent="0" marL="0">
              <a:lnSpc>
                <a:spcPct val="125000"/>
              </a:lnSpc>
              <a:buNone/>
            </a:pPr>
            <a:r>
              <a:rPr lang="en-US" sz="1150" dirty="0">
                <a:solidFill>
                  <a:srgbClr val="50606F"/>
                </a:solidFill>
                <a:latin typeface="Calibri" pitchFamily="34" charset="0"/>
                <a:ea typeface="Calibri" pitchFamily="34" charset="-122"/>
                <a:cs typeface="Calibri" pitchFamily="34" charset="-120"/>
              </a:rPr>
              <a:t>Product, payment method, and referral source all use the identical groupby → agg → sort_values structure. Once the pattern is set, re-running the same analysis on any categorical column is a one-line change.</a:t>
            </a:r>
            <a:endParaRPr lang="en-US" sz="1150" dirty="0"/>
          </a:p>
        </p:txBody>
      </p:sp>
      <p:sp>
        <p:nvSpPr>
          <p:cNvPr id="15" name="Text 13"/>
          <p:cNvSpPr/>
          <p:nvPr/>
        </p:nvSpPr>
        <p:spPr>
          <a:xfrm>
            <a:off x="11475720" y="6446520"/>
            <a:ext cx="548640" cy="274320"/>
          </a:xfrm>
          <a:prstGeom prst="rect">
            <a:avLst/>
          </a:prstGeom>
          <a:noFill/>
          <a:ln/>
        </p:spPr>
        <p:txBody>
          <a:bodyPr wrap="square" rtlCol="0" anchor="ctr"/>
          <a:lstStyle/>
          <a:p>
            <a:pPr indent="0" marL="0">
              <a:buNone/>
            </a:pPr>
            <a:r>
              <a:rPr lang="en-US" sz="1000" dirty="0">
                <a:solidFill>
                  <a:srgbClr val="9FB3C8"/>
                </a:solidFill>
                <a:latin typeface="Consolas" pitchFamily="34" charset="0"/>
                <a:ea typeface="Consolas" pitchFamily="34" charset="-122"/>
                <a:cs typeface="Consolas"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E33"/>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DD4BF"/>
                </a:solidFill>
                <a:latin typeface="Consolas" pitchFamily="34" charset="0"/>
                <a:ea typeface="Consolas" pitchFamily="34" charset="-122"/>
                <a:cs typeface="Consolas" pitchFamily="34" charset="-120"/>
              </a:rPr>
              <a:t>STEP 4 — GROUP: COUPON CODE</a:t>
            </a:r>
            <a:endParaRPr lang="en-US" sz="1200" dirty="0"/>
          </a:p>
        </p:txBody>
      </p:sp>
      <p:sp>
        <p:nvSpPr>
          <p:cNvPr id="3" name="Text 1"/>
          <p:cNvSpPr/>
          <p:nvPr/>
        </p:nvSpPr>
        <p:spPr>
          <a:xfrm>
            <a:off x="548640" y="685800"/>
            <a:ext cx="10058400" cy="822960"/>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Does the discount pay for itself?</a:t>
            </a:r>
            <a:endParaRPr lang="en-US" sz="2700" dirty="0"/>
          </a:p>
        </p:txBody>
      </p:sp>
      <p:sp>
        <p:nvSpPr>
          <p:cNvPr id="4" name="Shape 2"/>
          <p:cNvSpPr/>
          <p:nvPr/>
        </p:nvSpPr>
        <p:spPr>
          <a:xfrm>
            <a:off x="548640" y="1737360"/>
            <a:ext cx="10881360" cy="1188720"/>
          </a:xfrm>
          <a:prstGeom prst="roundRect">
            <a:avLst>
              <a:gd name="adj" fmla="val 6154"/>
            </a:avLst>
          </a:prstGeom>
          <a:solidFill>
            <a:srgbClr val="13293F"/>
          </a:solidFill>
          <a:ln w="12700">
            <a:solidFill>
              <a:srgbClr val="1F3B57"/>
            </a:solidFill>
            <a:prstDash val="solid"/>
          </a:ln>
        </p:spPr>
      </p:sp>
      <p:sp>
        <p:nvSpPr>
          <p:cNvPr id="5" name="Text 3"/>
          <p:cNvSpPr/>
          <p:nvPr/>
        </p:nvSpPr>
        <p:spPr>
          <a:xfrm>
            <a:off x="777240" y="1901952"/>
            <a:ext cx="10424160" cy="859536"/>
          </a:xfrm>
          <a:prstGeom prst="rect">
            <a:avLst/>
          </a:prstGeom>
          <a:noFill/>
          <a:ln/>
        </p:spPr>
        <p:txBody>
          <a:bodyPr wrap="square" lIns="0" tIns="0" rIns="0" bIns="0" rtlCol="0" anchor="t"/>
          <a:lstStyle/>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coupon_analysis = df.groupby('CouponCode').agg(</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    Orders=('OrderID', 'count'),</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    Revenue=('TotalPrice', 'sum')</a:t>
            </a:r>
            <a:endParaRPr lang="en-US" sz="1250" dirty="0"/>
          </a:p>
          <a:p>
            <a:pPr indent="0" marL="0">
              <a:lnSpc>
                <a:spcPct val="125000"/>
              </a:lnSpc>
              <a:buNone/>
            </a:pPr>
            <a:r>
              <a:rPr lang="en-US" sz="1250" dirty="0">
                <a:solidFill>
                  <a:srgbClr val="D7E4EF"/>
                </a:solidFill>
                <a:latin typeface="Consolas" pitchFamily="34" charset="0"/>
                <a:ea typeface="Consolas" pitchFamily="34" charset="-122"/>
                <a:cs typeface="Consolas" pitchFamily="34" charset="-120"/>
              </a:rPr>
              <a:t>)</a:t>
            </a:r>
            <a:endParaRPr lang="en-US" sz="1250" dirty="0"/>
          </a:p>
        </p:txBody>
      </p:sp>
      <p:sp>
        <p:nvSpPr>
          <p:cNvPr id="6" name="Text 4"/>
          <p:cNvSpPr/>
          <p:nvPr/>
        </p:nvSpPr>
        <p:spPr>
          <a:xfrm>
            <a:off x="548640" y="3200400"/>
            <a:ext cx="10881360" cy="1005840"/>
          </a:xfrm>
          <a:prstGeom prst="rect">
            <a:avLst/>
          </a:prstGeom>
          <a:noFill/>
          <a:ln/>
        </p:spPr>
        <p:txBody>
          <a:bodyPr wrap="square" rtlCol="0" anchor="ctr"/>
          <a:lstStyle/>
          <a:p>
            <a:pPr indent="0" marL="0">
              <a:lnSpc>
                <a:spcPct val="135000"/>
              </a:lnSpc>
              <a:buNone/>
            </a:pPr>
            <a:r>
              <a:rPr lang="en-US" sz="1350" dirty="0">
                <a:solidFill>
                  <a:srgbClr val="9FB3C8"/>
                </a:solidFill>
                <a:latin typeface="Calibri" pitchFamily="34" charset="0"/>
                <a:ea typeface="Calibri" pitchFamily="34" charset="-122"/>
                <a:cs typeface="Calibri" pitchFamily="34" charset="-120"/>
              </a:rPr>
              <a:t>Grouping by CouponCode (including the implicit no-coupon rows) separates discounted orders from full-price orders. Comparing Orders and Revenue side by side across groups is the first check for whether coupons are pulling in incremental volume or just discounting sales that would have happened anyway.</a:t>
            </a:r>
            <a:endParaRPr lang="en-US" sz="1350" dirty="0"/>
          </a:p>
        </p:txBody>
      </p:sp>
      <p:sp>
        <p:nvSpPr>
          <p:cNvPr id="7" name="Shape 5"/>
          <p:cNvSpPr/>
          <p:nvPr/>
        </p:nvSpPr>
        <p:spPr>
          <a:xfrm>
            <a:off x="548640" y="4434840"/>
            <a:ext cx="10881360" cy="1737360"/>
          </a:xfrm>
          <a:prstGeom prst="roundRect">
            <a:avLst>
              <a:gd name="adj" fmla="val 4211"/>
            </a:avLst>
          </a:prstGeom>
          <a:solidFill>
            <a:srgbClr val="13293F"/>
          </a:solidFill>
          <a:ln w="12700">
            <a:solidFill>
              <a:srgbClr val="1F3B57"/>
            </a:solidFill>
            <a:prstDash val="solid"/>
          </a:ln>
        </p:spPr>
      </p:sp>
      <p:sp>
        <p:nvSpPr>
          <p:cNvPr id="8" name="Text 6"/>
          <p:cNvSpPr/>
          <p:nvPr/>
        </p:nvSpPr>
        <p:spPr>
          <a:xfrm>
            <a:off x="822960" y="4617720"/>
            <a:ext cx="7315200" cy="320040"/>
          </a:xfrm>
          <a:prstGeom prst="rect">
            <a:avLst/>
          </a:prstGeom>
          <a:noFill/>
          <a:ln/>
        </p:spPr>
        <p:txBody>
          <a:bodyPr wrap="square" rtlCol="0" anchor="ctr"/>
          <a:lstStyle/>
          <a:p>
            <a:pPr indent="0" marL="0">
              <a:buNone/>
            </a:pPr>
            <a:r>
              <a:rPr lang="en-US" sz="1300" b="1" dirty="0">
                <a:solidFill>
                  <a:srgbClr val="F5A524"/>
                </a:solidFill>
                <a:latin typeface="Calibri" pitchFamily="34" charset="0"/>
                <a:ea typeface="Calibri" pitchFamily="34" charset="-122"/>
                <a:cs typeface="Calibri" pitchFamily="34" charset="-120"/>
              </a:rPr>
              <a:t>Extension not yet in the script</a:t>
            </a:r>
            <a:endParaRPr lang="en-US" sz="1300" dirty="0"/>
          </a:p>
        </p:txBody>
      </p:sp>
      <p:sp>
        <p:nvSpPr>
          <p:cNvPr id="9" name="Text 7"/>
          <p:cNvSpPr/>
          <p:nvPr/>
        </p:nvSpPr>
        <p:spPr>
          <a:xfrm>
            <a:off x="822960" y="4956048"/>
            <a:ext cx="10332720" cy="1097280"/>
          </a:xfrm>
          <a:prstGeom prst="rect">
            <a:avLst/>
          </a:prstGeom>
          <a:noFill/>
          <a:ln/>
        </p:spPr>
        <p:txBody>
          <a:bodyPr wrap="square" rtlCol="0" anchor="ctr"/>
          <a:lstStyle/>
          <a:p>
            <a:pPr indent="0" marL="0">
              <a:lnSpc>
                <a:spcPct val="130000"/>
              </a:lnSpc>
              <a:buNone/>
            </a:pPr>
            <a:r>
              <a:rPr lang="en-US" sz="1200" dirty="0">
                <a:solidFill>
                  <a:srgbClr val="D7E4EF"/>
                </a:solidFill>
                <a:latin typeface="Calibri" pitchFamily="34" charset="0"/>
                <a:ea typeface="Calibri" pitchFamily="34" charset="-122"/>
                <a:cs typeface="Calibri" pitchFamily="34" charset="-120"/>
              </a:rPr>
              <a:t>A natural next query — flagged in the brief as a stretch goal — is HAVING-style filtering on this grouped result (e.g. keep only coupon codes with Orders &gt; some threshold) and a percentage-of-total-revenue column per code. Both are one line each: .query() on the aggregated frame, and Revenue / Revenue.sum() * 100.</a:t>
            </a:r>
            <a:endParaRPr lang="en-US" sz="1200" dirty="0"/>
          </a:p>
        </p:txBody>
      </p:sp>
      <p:sp>
        <p:nvSpPr>
          <p:cNvPr id="10" name="Text 8"/>
          <p:cNvSpPr/>
          <p:nvPr/>
        </p:nvSpPr>
        <p:spPr>
          <a:xfrm>
            <a:off x="11475720" y="6446520"/>
            <a:ext cx="548640" cy="274320"/>
          </a:xfrm>
          <a:prstGeom prst="rect">
            <a:avLst/>
          </a:prstGeom>
          <a:noFill/>
          <a:ln/>
        </p:spPr>
        <p:txBody>
          <a:bodyPr wrap="square" rtlCol="0" anchor="ctr"/>
          <a:lstStyle/>
          <a:p>
            <a:pPr indent="0" marL="0">
              <a:buNone/>
            </a:pPr>
            <a:r>
              <a:rPr lang="en-US" sz="1000" dirty="0">
                <a:solidFill>
                  <a:srgbClr val="9FB3C8"/>
                </a:solidFill>
                <a:latin typeface="Consolas" pitchFamily="34" charset="0"/>
                <a:ea typeface="Consolas" pitchFamily="34" charset="-122"/>
                <a:cs typeface="Consolas"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DD4BF"/>
                </a:solidFill>
                <a:latin typeface="Consolas" pitchFamily="34" charset="0"/>
                <a:ea typeface="Consolas" pitchFamily="34" charset="-122"/>
                <a:cs typeface="Consolas" pitchFamily="34" charset="-120"/>
              </a:rPr>
              <a:t>FINAL INSIGHTS</a:t>
            </a:r>
            <a:endParaRPr lang="en-US" sz="1200" dirty="0"/>
          </a:p>
        </p:txBody>
      </p:sp>
      <p:sp>
        <p:nvSpPr>
          <p:cNvPr id="3" name="Text 1"/>
          <p:cNvSpPr/>
          <p:nvPr/>
        </p:nvSpPr>
        <p:spPr>
          <a:xfrm>
            <a:off x="548640" y="685800"/>
            <a:ext cx="10058400" cy="822960"/>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What the script reports at runtime</a:t>
            </a:r>
            <a:endParaRPr lang="en-US" sz="2700" dirty="0"/>
          </a:p>
        </p:txBody>
      </p:sp>
      <p:sp>
        <p:nvSpPr>
          <p:cNvPr id="4" name="Shape 2"/>
          <p:cNvSpPr/>
          <p:nvPr/>
        </p:nvSpPr>
        <p:spPr>
          <a:xfrm>
            <a:off x="548640" y="1600200"/>
            <a:ext cx="10881360" cy="1600200"/>
          </a:xfrm>
          <a:prstGeom prst="roundRect">
            <a:avLst>
              <a:gd name="adj" fmla="val 4571"/>
            </a:avLst>
          </a:prstGeom>
          <a:solidFill>
            <a:srgbClr val="13293F"/>
          </a:solidFill>
          <a:ln w="12700">
            <a:solidFill>
              <a:srgbClr val="1F3B57"/>
            </a:solidFill>
            <a:prstDash val="solid"/>
          </a:ln>
        </p:spPr>
      </p:sp>
      <p:sp>
        <p:nvSpPr>
          <p:cNvPr id="5" name="Text 3"/>
          <p:cNvSpPr/>
          <p:nvPr/>
        </p:nvSpPr>
        <p:spPr>
          <a:xfrm>
            <a:off x="777240" y="1764792"/>
            <a:ext cx="10424160" cy="1271016"/>
          </a:xfrm>
          <a:prstGeom prst="rect">
            <a:avLst/>
          </a:prstGeom>
          <a:noFill/>
          <a:ln/>
        </p:spPr>
        <p:txBody>
          <a:bodyPr wrap="square" lIns="0" tIns="0" rIns="0" bIns="0" rtlCol="0" anchor="t"/>
          <a:lstStyle/>
          <a:p>
            <a:pPr indent="0" marL="0">
              <a:lnSpc>
                <a:spcPct val="125000"/>
              </a:lnSpc>
              <a:buNone/>
            </a:pPr>
            <a:r>
              <a:rPr lang="en-US" sz="1300" dirty="0">
                <a:solidFill>
                  <a:srgbClr val="D7E4EF"/>
                </a:solidFill>
                <a:latin typeface="Consolas" pitchFamily="34" charset="0"/>
                <a:ea typeface="Consolas" pitchFamily="34" charset="-122"/>
                <a:cs typeface="Consolas" pitchFamily="34" charset="-120"/>
              </a:rPr>
              <a:t>top_product = product_analysis['Revenue'].idxmax()</a:t>
            </a:r>
            <a:endParaRPr lang="en-US" sz="1300" dirty="0"/>
          </a:p>
          <a:p>
            <a:pPr indent="0" marL="0">
              <a:lnSpc>
                <a:spcPct val="125000"/>
              </a:lnSpc>
              <a:buNone/>
            </a:pPr>
            <a:r>
              <a:rPr lang="en-US" sz="1300" dirty="0">
                <a:solidFill>
                  <a:srgbClr val="D7E4EF"/>
                </a:solidFill>
                <a:latin typeface="Consolas" pitchFamily="34" charset="0"/>
                <a:ea typeface="Consolas" pitchFamily="34" charset="-122"/>
                <a:cs typeface="Consolas" pitchFamily="34" charset="-120"/>
              </a:rPr>
              <a:t>best_payment = payment_analysis['Revenue'].idxmax()</a:t>
            </a:r>
            <a:endParaRPr lang="en-US" sz="1300" dirty="0"/>
          </a:p>
          <a:p>
            <a:pPr indent="0" marL="0">
              <a:lnSpc>
                <a:spcPct val="125000"/>
              </a:lnSpc>
              <a:buNone/>
            </a:pPr>
            <a:endParaRPr lang="en-US" sz="1300" dirty="0"/>
          </a:p>
          <a:p>
            <a:pPr indent="0" marL="0">
              <a:lnSpc>
                <a:spcPct val="125000"/>
              </a:lnSpc>
              <a:buNone/>
            </a:pPr>
            <a:r>
              <a:rPr lang="en-US" sz="1300" dirty="0">
                <a:solidFill>
                  <a:srgbClr val="D7E4EF"/>
                </a:solidFill>
                <a:latin typeface="Consolas" pitchFamily="34" charset="0"/>
                <a:ea typeface="Consolas" pitchFamily="34" charset="-122"/>
                <a:cs typeface="Consolas" pitchFamily="34" charset="-120"/>
              </a:rPr>
              <a:t>print('Top Product:', top_product)</a:t>
            </a:r>
            <a:endParaRPr lang="en-US" sz="1300" dirty="0"/>
          </a:p>
          <a:p>
            <a:pPr indent="0" marL="0">
              <a:lnSpc>
                <a:spcPct val="125000"/>
              </a:lnSpc>
              <a:buNone/>
            </a:pPr>
            <a:r>
              <a:rPr lang="en-US" sz="1300" dirty="0">
                <a:solidFill>
                  <a:srgbClr val="D7E4EF"/>
                </a:solidFill>
                <a:latin typeface="Consolas" pitchFamily="34" charset="0"/>
                <a:ea typeface="Consolas" pitchFamily="34" charset="-122"/>
                <a:cs typeface="Consolas" pitchFamily="34" charset="-120"/>
              </a:rPr>
              <a:t>print('Most Used Payment Method:', best_payment)</a:t>
            </a:r>
            <a:endParaRPr lang="en-US" sz="1300" dirty="0"/>
          </a:p>
          <a:p>
            <a:pPr indent="0" marL="0">
              <a:lnSpc>
                <a:spcPct val="125000"/>
              </a:lnSpc>
              <a:buNone/>
            </a:pPr>
            <a:r>
              <a:rPr lang="en-US" sz="1300" dirty="0">
                <a:solidFill>
                  <a:srgbClr val="D7E4EF"/>
                </a:solidFill>
                <a:latin typeface="Consolas" pitchFamily="34" charset="0"/>
                <a:ea typeface="Consolas" pitchFamily="34" charset="-122"/>
                <a:cs typeface="Consolas" pitchFamily="34" charset="-120"/>
              </a:rPr>
              <a:t>print('Total Revenue Generated:', total_revenue)</a:t>
            </a:r>
            <a:endParaRPr lang="en-US" sz="1300" dirty="0"/>
          </a:p>
        </p:txBody>
      </p:sp>
      <p:sp>
        <p:nvSpPr>
          <p:cNvPr id="6" name="Shape 4"/>
          <p:cNvSpPr/>
          <p:nvPr/>
        </p:nvSpPr>
        <p:spPr>
          <a:xfrm>
            <a:off x="548640" y="3429000"/>
            <a:ext cx="3520440" cy="1371600"/>
          </a:xfrm>
          <a:prstGeom prst="roundRect">
            <a:avLst>
              <a:gd name="adj" fmla="val 5333"/>
            </a:avLst>
          </a:prstGeom>
          <a:solidFill>
            <a:srgbClr val="F4F7FA"/>
          </a:solidFill>
          <a:ln w="12700">
            <a:solidFill>
              <a:srgbClr val="E2E8EF"/>
            </a:solidFill>
            <a:prstDash val="solid"/>
          </a:ln>
        </p:spPr>
      </p:sp>
      <p:sp>
        <p:nvSpPr>
          <p:cNvPr id="7" name="Text 5"/>
          <p:cNvSpPr/>
          <p:nvPr/>
        </p:nvSpPr>
        <p:spPr>
          <a:xfrm>
            <a:off x="777240" y="3611880"/>
            <a:ext cx="3063240" cy="320040"/>
          </a:xfrm>
          <a:prstGeom prst="rect">
            <a:avLst/>
          </a:prstGeom>
          <a:noFill/>
          <a:ln/>
        </p:spPr>
        <p:txBody>
          <a:bodyPr wrap="square" rtlCol="0" anchor="ctr"/>
          <a:lstStyle/>
          <a:p>
            <a:pPr indent="0" marL="0">
              <a:buNone/>
            </a:pPr>
            <a:r>
              <a:rPr lang="en-US" sz="1200" b="1" dirty="0">
                <a:solidFill>
                  <a:srgbClr val="50606F"/>
                </a:solidFill>
                <a:latin typeface="Calibri" pitchFamily="34" charset="0"/>
                <a:ea typeface="Calibri" pitchFamily="34" charset="-122"/>
                <a:cs typeface="Calibri" pitchFamily="34" charset="-120"/>
              </a:rPr>
              <a:t>Top Product</a:t>
            </a:r>
            <a:endParaRPr lang="en-US" sz="1200" dirty="0"/>
          </a:p>
        </p:txBody>
      </p:sp>
      <p:sp>
        <p:nvSpPr>
          <p:cNvPr id="8" name="Text 6"/>
          <p:cNvSpPr/>
          <p:nvPr/>
        </p:nvSpPr>
        <p:spPr>
          <a:xfrm>
            <a:off x="777240" y="3977640"/>
            <a:ext cx="3063240" cy="548640"/>
          </a:xfrm>
          <a:prstGeom prst="rect">
            <a:avLst/>
          </a:prstGeom>
          <a:noFill/>
          <a:ln/>
        </p:spPr>
        <p:txBody>
          <a:bodyPr wrap="square" rtlCol="0" anchor="ctr"/>
          <a:lstStyle/>
          <a:p>
            <a:pPr indent="0" marL="0">
              <a:buNone/>
            </a:pPr>
            <a:r>
              <a:rPr lang="en-US" sz="1600" i="1" dirty="0">
                <a:solidFill>
                  <a:srgbClr val="9AA7B4"/>
                </a:solidFill>
                <a:latin typeface="Georgia" pitchFamily="34" charset="0"/>
                <a:ea typeface="Georgia" pitchFamily="34" charset="-122"/>
                <a:cs typeface="Georgia" pitchFamily="34" charset="-120"/>
              </a:rPr>
              <a:t>— pending run —</a:t>
            </a:r>
            <a:endParaRPr lang="en-US" sz="1600" dirty="0"/>
          </a:p>
        </p:txBody>
      </p:sp>
      <p:sp>
        <p:nvSpPr>
          <p:cNvPr id="9" name="Text 7"/>
          <p:cNvSpPr/>
          <p:nvPr/>
        </p:nvSpPr>
        <p:spPr>
          <a:xfrm>
            <a:off x="777240" y="4480560"/>
            <a:ext cx="3063240" cy="274320"/>
          </a:xfrm>
          <a:prstGeom prst="rect">
            <a:avLst/>
          </a:prstGeom>
          <a:noFill/>
          <a:ln/>
        </p:spPr>
        <p:txBody>
          <a:bodyPr wrap="square" rtlCol="0" anchor="ctr"/>
          <a:lstStyle/>
          <a:p>
            <a:pPr indent="0" marL="0">
              <a:buNone/>
            </a:pPr>
            <a:r>
              <a:rPr lang="en-US" sz="1000" dirty="0">
                <a:solidFill>
                  <a:srgbClr val="B0BDC9"/>
                </a:solidFill>
                <a:latin typeface="Consolas" pitchFamily="34" charset="0"/>
                <a:ea typeface="Consolas" pitchFamily="34" charset="-122"/>
                <a:cs typeface="Consolas" pitchFamily="34" charset="-120"/>
              </a:rPr>
              <a:t>top_product</a:t>
            </a:r>
            <a:endParaRPr lang="en-US" sz="1000" dirty="0"/>
          </a:p>
        </p:txBody>
      </p:sp>
      <p:sp>
        <p:nvSpPr>
          <p:cNvPr id="10" name="Shape 8"/>
          <p:cNvSpPr/>
          <p:nvPr/>
        </p:nvSpPr>
        <p:spPr>
          <a:xfrm>
            <a:off x="4343400" y="3429000"/>
            <a:ext cx="3520440" cy="1371600"/>
          </a:xfrm>
          <a:prstGeom prst="roundRect">
            <a:avLst>
              <a:gd name="adj" fmla="val 5333"/>
            </a:avLst>
          </a:prstGeom>
          <a:solidFill>
            <a:srgbClr val="F4F7FA"/>
          </a:solidFill>
          <a:ln w="12700">
            <a:solidFill>
              <a:srgbClr val="E2E8EF"/>
            </a:solidFill>
            <a:prstDash val="solid"/>
          </a:ln>
        </p:spPr>
      </p:sp>
      <p:sp>
        <p:nvSpPr>
          <p:cNvPr id="11" name="Text 9"/>
          <p:cNvSpPr/>
          <p:nvPr/>
        </p:nvSpPr>
        <p:spPr>
          <a:xfrm>
            <a:off x="4572000" y="3611880"/>
            <a:ext cx="3063240" cy="320040"/>
          </a:xfrm>
          <a:prstGeom prst="rect">
            <a:avLst/>
          </a:prstGeom>
          <a:noFill/>
          <a:ln/>
        </p:spPr>
        <p:txBody>
          <a:bodyPr wrap="square" rtlCol="0" anchor="ctr"/>
          <a:lstStyle/>
          <a:p>
            <a:pPr indent="0" marL="0">
              <a:buNone/>
            </a:pPr>
            <a:r>
              <a:rPr lang="en-US" sz="1200" b="1" dirty="0">
                <a:solidFill>
                  <a:srgbClr val="50606F"/>
                </a:solidFill>
                <a:latin typeface="Calibri" pitchFamily="34" charset="0"/>
                <a:ea typeface="Calibri" pitchFamily="34" charset="-122"/>
                <a:cs typeface="Calibri" pitchFamily="34" charset="-120"/>
              </a:rPr>
              <a:t>Leading Payment Method</a:t>
            </a:r>
            <a:endParaRPr lang="en-US" sz="1200" dirty="0"/>
          </a:p>
        </p:txBody>
      </p:sp>
      <p:sp>
        <p:nvSpPr>
          <p:cNvPr id="12" name="Text 10"/>
          <p:cNvSpPr/>
          <p:nvPr/>
        </p:nvSpPr>
        <p:spPr>
          <a:xfrm>
            <a:off x="4572000" y="3977640"/>
            <a:ext cx="3063240" cy="548640"/>
          </a:xfrm>
          <a:prstGeom prst="rect">
            <a:avLst/>
          </a:prstGeom>
          <a:noFill/>
          <a:ln/>
        </p:spPr>
        <p:txBody>
          <a:bodyPr wrap="square" rtlCol="0" anchor="ctr"/>
          <a:lstStyle/>
          <a:p>
            <a:pPr indent="0" marL="0">
              <a:buNone/>
            </a:pPr>
            <a:r>
              <a:rPr lang="en-US" sz="1600" i="1" dirty="0">
                <a:solidFill>
                  <a:srgbClr val="9AA7B4"/>
                </a:solidFill>
                <a:latin typeface="Georgia" pitchFamily="34" charset="0"/>
                <a:ea typeface="Georgia" pitchFamily="34" charset="-122"/>
                <a:cs typeface="Georgia" pitchFamily="34" charset="-120"/>
              </a:rPr>
              <a:t>— pending run —</a:t>
            </a:r>
            <a:endParaRPr lang="en-US" sz="1600" dirty="0"/>
          </a:p>
        </p:txBody>
      </p:sp>
      <p:sp>
        <p:nvSpPr>
          <p:cNvPr id="13" name="Text 11"/>
          <p:cNvSpPr/>
          <p:nvPr/>
        </p:nvSpPr>
        <p:spPr>
          <a:xfrm>
            <a:off x="4572000" y="4480560"/>
            <a:ext cx="3063240" cy="274320"/>
          </a:xfrm>
          <a:prstGeom prst="rect">
            <a:avLst/>
          </a:prstGeom>
          <a:noFill/>
          <a:ln/>
        </p:spPr>
        <p:txBody>
          <a:bodyPr wrap="square" rtlCol="0" anchor="ctr"/>
          <a:lstStyle/>
          <a:p>
            <a:pPr indent="0" marL="0">
              <a:buNone/>
            </a:pPr>
            <a:r>
              <a:rPr lang="en-US" sz="1000" dirty="0">
                <a:solidFill>
                  <a:srgbClr val="B0BDC9"/>
                </a:solidFill>
                <a:latin typeface="Consolas" pitchFamily="34" charset="0"/>
                <a:ea typeface="Consolas" pitchFamily="34" charset="-122"/>
                <a:cs typeface="Consolas" pitchFamily="34" charset="-120"/>
              </a:rPr>
              <a:t>best_payment</a:t>
            </a:r>
            <a:endParaRPr lang="en-US" sz="1000" dirty="0"/>
          </a:p>
        </p:txBody>
      </p:sp>
      <p:sp>
        <p:nvSpPr>
          <p:cNvPr id="14" name="Shape 12"/>
          <p:cNvSpPr/>
          <p:nvPr/>
        </p:nvSpPr>
        <p:spPr>
          <a:xfrm>
            <a:off x="8138160" y="3429000"/>
            <a:ext cx="3520440" cy="1371600"/>
          </a:xfrm>
          <a:prstGeom prst="roundRect">
            <a:avLst>
              <a:gd name="adj" fmla="val 5333"/>
            </a:avLst>
          </a:prstGeom>
          <a:solidFill>
            <a:srgbClr val="F4F7FA"/>
          </a:solidFill>
          <a:ln w="12700">
            <a:solidFill>
              <a:srgbClr val="E2E8EF"/>
            </a:solidFill>
            <a:prstDash val="solid"/>
          </a:ln>
        </p:spPr>
      </p:sp>
      <p:sp>
        <p:nvSpPr>
          <p:cNvPr id="15" name="Text 13"/>
          <p:cNvSpPr/>
          <p:nvPr/>
        </p:nvSpPr>
        <p:spPr>
          <a:xfrm>
            <a:off x="8366760" y="3611880"/>
            <a:ext cx="3063240" cy="320040"/>
          </a:xfrm>
          <a:prstGeom prst="rect">
            <a:avLst/>
          </a:prstGeom>
          <a:noFill/>
          <a:ln/>
        </p:spPr>
        <p:txBody>
          <a:bodyPr wrap="square" rtlCol="0" anchor="ctr"/>
          <a:lstStyle/>
          <a:p>
            <a:pPr indent="0" marL="0">
              <a:buNone/>
            </a:pPr>
            <a:r>
              <a:rPr lang="en-US" sz="1200" b="1" dirty="0">
                <a:solidFill>
                  <a:srgbClr val="50606F"/>
                </a:solidFill>
                <a:latin typeface="Calibri" pitchFamily="34" charset="0"/>
                <a:ea typeface="Calibri" pitchFamily="34" charset="-122"/>
                <a:cs typeface="Calibri" pitchFamily="34" charset="-120"/>
              </a:rPr>
              <a:t>Total Revenue</a:t>
            </a:r>
            <a:endParaRPr lang="en-US" sz="1200" dirty="0"/>
          </a:p>
        </p:txBody>
      </p:sp>
      <p:sp>
        <p:nvSpPr>
          <p:cNvPr id="16" name="Text 14"/>
          <p:cNvSpPr/>
          <p:nvPr/>
        </p:nvSpPr>
        <p:spPr>
          <a:xfrm>
            <a:off x="8366760" y="3977640"/>
            <a:ext cx="3063240" cy="548640"/>
          </a:xfrm>
          <a:prstGeom prst="rect">
            <a:avLst/>
          </a:prstGeom>
          <a:noFill/>
          <a:ln/>
        </p:spPr>
        <p:txBody>
          <a:bodyPr wrap="square" rtlCol="0" anchor="ctr"/>
          <a:lstStyle/>
          <a:p>
            <a:pPr indent="0" marL="0">
              <a:buNone/>
            </a:pPr>
            <a:r>
              <a:rPr lang="en-US" sz="1600" i="1" dirty="0">
                <a:solidFill>
                  <a:srgbClr val="9AA7B4"/>
                </a:solidFill>
                <a:latin typeface="Georgia" pitchFamily="34" charset="0"/>
                <a:ea typeface="Georgia" pitchFamily="34" charset="-122"/>
                <a:cs typeface="Georgia" pitchFamily="34" charset="-120"/>
              </a:rPr>
              <a:t>— pending run —</a:t>
            </a:r>
            <a:endParaRPr lang="en-US" sz="1600" dirty="0"/>
          </a:p>
        </p:txBody>
      </p:sp>
      <p:sp>
        <p:nvSpPr>
          <p:cNvPr id="17" name="Text 15"/>
          <p:cNvSpPr/>
          <p:nvPr/>
        </p:nvSpPr>
        <p:spPr>
          <a:xfrm>
            <a:off x="8366760" y="4480560"/>
            <a:ext cx="3063240" cy="274320"/>
          </a:xfrm>
          <a:prstGeom prst="rect">
            <a:avLst/>
          </a:prstGeom>
          <a:noFill/>
          <a:ln/>
        </p:spPr>
        <p:txBody>
          <a:bodyPr wrap="square" rtlCol="0" anchor="ctr"/>
          <a:lstStyle/>
          <a:p>
            <a:pPr indent="0" marL="0">
              <a:buNone/>
            </a:pPr>
            <a:r>
              <a:rPr lang="en-US" sz="1000" dirty="0">
                <a:solidFill>
                  <a:srgbClr val="B0BDC9"/>
                </a:solidFill>
                <a:latin typeface="Consolas" pitchFamily="34" charset="0"/>
                <a:ea typeface="Consolas" pitchFamily="34" charset="-122"/>
                <a:cs typeface="Consolas" pitchFamily="34" charset="-120"/>
              </a:rPr>
              <a:t>total_revenue</a:t>
            </a:r>
            <a:endParaRPr lang="en-US" sz="1000" dirty="0"/>
          </a:p>
        </p:txBody>
      </p:sp>
      <p:sp>
        <p:nvSpPr>
          <p:cNvPr id="18" name="Shape 16"/>
          <p:cNvSpPr/>
          <p:nvPr/>
        </p:nvSpPr>
        <p:spPr>
          <a:xfrm>
            <a:off x="548640" y="5074920"/>
            <a:ext cx="10881360" cy="1234440"/>
          </a:xfrm>
          <a:prstGeom prst="roundRect">
            <a:avLst>
              <a:gd name="adj" fmla="val 5926"/>
            </a:avLst>
          </a:prstGeom>
          <a:solidFill>
            <a:srgbClr val="FFF6E8"/>
          </a:solidFill>
          <a:ln/>
        </p:spPr>
      </p:sp>
      <p:sp>
        <p:nvSpPr>
          <p:cNvPr id="19" name="Text 17"/>
          <p:cNvSpPr/>
          <p:nvPr/>
        </p:nvSpPr>
        <p:spPr>
          <a:xfrm>
            <a:off x="822960" y="5230368"/>
            <a:ext cx="7315200" cy="320040"/>
          </a:xfrm>
          <a:prstGeom prst="rect">
            <a:avLst/>
          </a:prstGeom>
          <a:noFill/>
          <a:ln/>
        </p:spPr>
        <p:txBody>
          <a:bodyPr wrap="square" rtlCol="0" anchor="ctr"/>
          <a:lstStyle/>
          <a:p>
            <a:pPr indent="0" marL="0">
              <a:buNone/>
            </a:pPr>
            <a:r>
              <a:rPr lang="en-US" sz="1250" b="1" dirty="0">
                <a:solidFill>
                  <a:srgbClr val="8A5A00"/>
                </a:solidFill>
                <a:latin typeface="Calibri" pitchFamily="34" charset="0"/>
                <a:ea typeface="Calibri" pitchFamily="34" charset="-122"/>
                <a:cs typeface="Calibri" pitchFamily="34" charset="-120"/>
              </a:rPr>
              <a:t>⚠  Values intentionally left blank</a:t>
            </a:r>
            <a:endParaRPr lang="en-US" sz="1250" dirty="0"/>
          </a:p>
        </p:txBody>
      </p:sp>
      <p:sp>
        <p:nvSpPr>
          <p:cNvPr id="20" name="Text 18"/>
          <p:cNvSpPr/>
          <p:nvPr/>
        </p:nvSpPr>
        <p:spPr>
          <a:xfrm>
            <a:off x="822960" y="5532120"/>
            <a:ext cx="10332720" cy="731520"/>
          </a:xfrm>
          <a:prstGeom prst="rect">
            <a:avLst/>
          </a:prstGeom>
          <a:noFill/>
          <a:ln/>
        </p:spPr>
        <p:txBody>
          <a:bodyPr wrap="square" rtlCol="0" anchor="ctr"/>
          <a:lstStyle/>
          <a:p>
            <a:pPr indent="0" marL="0">
              <a:lnSpc>
                <a:spcPct val="125000"/>
              </a:lnSpc>
              <a:buNone/>
            </a:pPr>
            <a:r>
              <a:rPr lang="en-US" sz="1150" dirty="0">
                <a:solidFill>
                  <a:srgbClr val="5E4200"/>
                </a:solidFill>
                <a:latin typeface="Calibri" pitchFamily="34" charset="0"/>
                <a:ea typeface="Calibri" pitchFamily="34" charset="-122"/>
                <a:cs typeface="Calibri" pitchFamily="34" charset="-120"/>
              </a:rPr>
              <a:t>The actual dataset wasn't provided, so these three headline numbers aren't filled in — run the script and drop the printed values into this slide before presenting. Anything else would be a guess dressed up as a result.</a:t>
            </a:r>
            <a:endParaRPr lang="en-US" sz="1150" dirty="0"/>
          </a:p>
        </p:txBody>
      </p:sp>
      <p:sp>
        <p:nvSpPr>
          <p:cNvPr id="21" name="Text 19"/>
          <p:cNvSpPr/>
          <p:nvPr/>
        </p:nvSpPr>
        <p:spPr>
          <a:xfrm>
            <a:off x="11475720" y="6446520"/>
            <a:ext cx="548640" cy="274320"/>
          </a:xfrm>
          <a:prstGeom prst="rect">
            <a:avLst/>
          </a:prstGeom>
          <a:noFill/>
          <a:ln/>
        </p:spPr>
        <p:txBody>
          <a:bodyPr wrap="square" rtlCol="0" anchor="ctr"/>
          <a:lstStyle/>
          <a:p>
            <a:pPr indent="0" marL="0">
              <a:buNone/>
            </a:pPr>
            <a:r>
              <a:rPr lang="en-US" sz="1000" dirty="0">
                <a:solidFill>
                  <a:srgbClr val="9FB3C8"/>
                </a:solidFill>
                <a:latin typeface="Consolas" pitchFamily="34" charset="0"/>
                <a:ea typeface="Consolas" pitchFamily="34" charset="-122"/>
                <a:cs typeface="Consolas"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E33"/>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DD4BF"/>
                </a:solidFill>
                <a:latin typeface="Consolas" pitchFamily="34" charset="0"/>
                <a:ea typeface="Consolas" pitchFamily="34" charset="-122"/>
                <a:cs typeface="Consolas" pitchFamily="34" charset="-120"/>
              </a:rPr>
              <a:t>SKILLS DEMONSTRATED</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From raw rows to relational logic</a:t>
            </a:r>
            <a:endParaRPr lang="en-US" sz="2700" dirty="0"/>
          </a:p>
        </p:txBody>
      </p:sp>
      <p:sp>
        <p:nvSpPr>
          <p:cNvPr id="4" name="Shape 2"/>
          <p:cNvSpPr/>
          <p:nvPr/>
        </p:nvSpPr>
        <p:spPr>
          <a:xfrm>
            <a:off x="548640" y="1691640"/>
            <a:ext cx="11064240" cy="960120"/>
          </a:xfrm>
          <a:prstGeom prst="roundRect">
            <a:avLst>
              <a:gd name="adj" fmla="val 6667"/>
            </a:avLst>
          </a:prstGeom>
          <a:solidFill>
            <a:srgbClr val="13293F"/>
          </a:solidFill>
          <a:ln w="12700">
            <a:solidFill>
              <a:srgbClr val="1F3B57"/>
            </a:solidFill>
            <a:prstDash val="solid"/>
          </a:ln>
        </p:spPr>
      </p:sp>
      <p:sp>
        <p:nvSpPr>
          <p:cNvPr id="5" name="Shape 3"/>
          <p:cNvSpPr/>
          <p:nvPr/>
        </p:nvSpPr>
        <p:spPr>
          <a:xfrm>
            <a:off x="548640" y="1691640"/>
            <a:ext cx="73152" cy="960120"/>
          </a:xfrm>
          <a:prstGeom prst="rect">
            <a:avLst/>
          </a:prstGeom>
          <a:solidFill>
            <a:srgbClr val="2DD4BF"/>
          </a:solidFill>
          <a:ln/>
        </p:spPr>
      </p:sp>
      <p:sp>
        <p:nvSpPr>
          <p:cNvPr id="6" name="Text 4"/>
          <p:cNvSpPr/>
          <p:nvPr/>
        </p:nvSpPr>
        <p:spPr>
          <a:xfrm>
            <a:off x="914400" y="1828800"/>
            <a:ext cx="3291840" cy="6858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Projection &amp; filtering</a:t>
            </a:r>
            <a:endParaRPr lang="en-US" sz="1500" dirty="0"/>
          </a:p>
        </p:txBody>
      </p:sp>
      <p:sp>
        <p:nvSpPr>
          <p:cNvPr id="7" name="Text 5"/>
          <p:cNvSpPr/>
          <p:nvPr/>
        </p:nvSpPr>
        <p:spPr>
          <a:xfrm>
            <a:off x="4389120" y="1828800"/>
            <a:ext cx="6949440" cy="685800"/>
          </a:xfrm>
          <a:prstGeom prst="rect">
            <a:avLst/>
          </a:prstGeom>
          <a:noFill/>
          <a:ln/>
        </p:spPr>
        <p:txBody>
          <a:bodyPr wrap="square" rtlCol="0" anchor="ctr"/>
          <a:lstStyle/>
          <a:p>
            <a:pPr indent="0" marL="0">
              <a:buNone/>
            </a:pPr>
            <a:r>
              <a:rPr lang="en-US" sz="1250" dirty="0">
                <a:solidFill>
                  <a:srgbClr val="9FB3C8"/>
                </a:solidFill>
                <a:latin typeface="Calibri" pitchFamily="34" charset="0"/>
                <a:ea typeface="Calibri" pitchFamily="34" charset="-122"/>
                <a:cs typeface="Calibri" pitchFamily="34" charset="-120"/>
              </a:rPr>
              <a:t>Column selection and row-level conditions (WHERE-equivalent)</a:t>
            </a:r>
            <a:endParaRPr lang="en-US" sz="1250" dirty="0"/>
          </a:p>
        </p:txBody>
      </p:sp>
      <p:sp>
        <p:nvSpPr>
          <p:cNvPr id="8" name="Shape 6"/>
          <p:cNvSpPr/>
          <p:nvPr/>
        </p:nvSpPr>
        <p:spPr>
          <a:xfrm>
            <a:off x="548640" y="2834640"/>
            <a:ext cx="11064240" cy="960120"/>
          </a:xfrm>
          <a:prstGeom prst="roundRect">
            <a:avLst>
              <a:gd name="adj" fmla="val 6667"/>
            </a:avLst>
          </a:prstGeom>
          <a:solidFill>
            <a:srgbClr val="13293F"/>
          </a:solidFill>
          <a:ln w="12700">
            <a:solidFill>
              <a:srgbClr val="1F3B57"/>
            </a:solidFill>
            <a:prstDash val="solid"/>
          </a:ln>
        </p:spPr>
      </p:sp>
      <p:sp>
        <p:nvSpPr>
          <p:cNvPr id="9" name="Shape 7"/>
          <p:cNvSpPr/>
          <p:nvPr/>
        </p:nvSpPr>
        <p:spPr>
          <a:xfrm>
            <a:off x="548640" y="2834640"/>
            <a:ext cx="73152" cy="960120"/>
          </a:xfrm>
          <a:prstGeom prst="rect">
            <a:avLst/>
          </a:prstGeom>
          <a:solidFill>
            <a:srgbClr val="F5A524"/>
          </a:solidFill>
          <a:ln/>
        </p:spPr>
      </p:sp>
      <p:sp>
        <p:nvSpPr>
          <p:cNvPr id="10" name="Text 8"/>
          <p:cNvSpPr/>
          <p:nvPr/>
        </p:nvSpPr>
        <p:spPr>
          <a:xfrm>
            <a:off x="914400" y="2971800"/>
            <a:ext cx="3291840" cy="6858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Sorting</a:t>
            </a:r>
            <a:endParaRPr lang="en-US" sz="1500" dirty="0"/>
          </a:p>
        </p:txBody>
      </p:sp>
      <p:sp>
        <p:nvSpPr>
          <p:cNvPr id="11" name="Text 9"/>
          <p:cNvSpPr/>
          <p:nvPr/>
        </p:nvSpPr>
        <p:spPr>
          <a:xfrm>
            <a:off x="4389120" y="2971800"/>
            <a:ext cx="6949440" cy="685800"/>
          </a:xfrm>
          <a:prstGeom prst="rect">
            <a:avLst/>
          </a:prstGeom>
          <a:noFill/>
          <a:ln/>
        </p:spPr>
        <p:txBody>
          <a:bodyPr wrap="square" rtlCol="0" anchor="ctr"/>
          <a:lstStyle/>
          <a:p>
            <a:pPr indent="0" marL="0">
              <a:buNone/>
            </a:pPr>
            <a:r>
              <a:rPr lang="en-US" sz="1250" dirty="0">
                <a:solidFill>
                  <a:srgbClr val="9FB3C8"/>
                </a:solidFill>
                <a:latin typeface="Calibri" pitchFamily="34" charset="0"/>
                <a:ea typeface="Calibri" pitchFamily="34" charset="-122"/>
                <a:cs typeface="Calibri" pitchFamily="34" charset="-120"/>
              </a:rPr>
              <a:t>Ranking result sets by a computed measure (ORDER BY-equivalent)</a:t>
            </a:r>
            <a:endParaRPr lang="en-US" sz="1250" dirty="0"/>
          </a:p>
        </p:txBody>
      </p:sp>
      <p:sp>
        <p:nvSpPr>
          <p:cNvPr id="12" name="Shape 10"/>
          <p:cNvSpPr/>
          <p:nvPr/>
        </p:nvSpPr>
        <p:spPr>
          <a:xfrm>
            <a:off x="548640" y="3977640"/>
            <a:ext cx="11064240" cy="960120"/>
          </a:xfrm>
          <a:prstGeom prst="roundRect">
            <a:avLst>
              <a:gd name="adj" fmla="val 6667"/>
            </a:avLst>
          </a:prstGeom>
          <a:solidFill>
            <a:srgbClr val="13293F"/>
          </a:solidFill>
          <a:ln w="12700">
            <a:solidFill>
              <a:srgbClr val="1F3B57"/>
            </a:solidFill>
            <a:prstDash val="solid"/>
          </a:ln>
        </p:spPr>
      </p:sp>
      <p:sp>
        <p:nvSpPr>
          <p:cNvPr id="13" name="Shape 11"/>
          <p:cNvSpPr/>
          <p:nvPr/>
        </p:nvSpPr>
        <p:spPr>
          <a:xfrm>
            <a:off x="548640" y="3977640"/>
            <a:ext cx="73152" cy="960120"/>
          </a:xfrm>
          <a:prstGeom prst="rect">
            <a:avLst/>
          </a:prstGeom>
          <a:solidFill>
            <a:srgbClr val="5B8DEF"/>
          </a:solidFill>
          <a:ln/>
        </p:spPr>
      </p:sp>
      <p:sp>
        <p:nvSpPr>
          <p:cNvPr id="14" name="Text 12"/>
          <p:cNvSpPr/>
          <p:nvPr/>
        </p:nvSpPr>
        <p:spPr>
          <a:xfrm>
            <a:off x="914400" y="4114800"/>
            <a:ext cx="3291840" cy="6858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Aggregation</a:t>
            </a:r>
            <a:endParaRPr lang="en-US" sz="1500" dirty="0"/>
          </a:p>
        </p:txBody>
      </p:sp>
      <p:sp>
        <p:nvSpPr>
          <p:cNvPr id="15" name="Text 13"/>
          <p:cNvSpPr/>
          <p:nvPr/>
        </p:nvSpPr>
        <p:spPr>
          <a:xfrm>
            <a:off x="4389120" y="4114800"/>
            <a:ext cx="6949440" cy="685800"/>
          </a:xfrm>
          <a:prstGeom prst="rect">
            <a:avLst/>
          </a:prstGeom>
          <a:noFill/>
          <a:ln/>
        </p:spPr>
        <p:txBody>
          <a:bodyPr wrap="square" rtlCol="0" anchor="ctr"/>
          <a:lstStyle/>
          <a:p>
            <a:pPr indent="0" marL="0">
              <a:buNone/>
            </a:pPr>
            <a:r>
              <a:rPr lang="en-US" sz="1250" dirty="0">
                <a:solidFill>
                  <a:srgbClr val="9FB3C8"/>
                </a:solidFill>
                <a:latin typeface="Calibri" pitchFamily="34" charset="0"/>
                <a:ea typeface="Calibri" pitchFamily="34" charset="-122"/>
                <a:cs typeface="Calibri" pitchFamily="34" charset="-120"/>
              </a:rPr>
              <a:t>COUNT / SUM / AVG, and awareness of how each treats NULLs</a:t>
            </a:r>
            <a:endParaRPr lang="en-US" sz="1250" dirty="0"/>
          </a:p>
        </p:txBody>
      </p:sp>
      <p:sp>
        <p:nvSpPr>
          <p:cNvPr id="16" name="Shape 14"/>
          <p:cNvSpPr/>
          <p:nvPr/>
        </p:nvSpPr>
        <p:spPr>
          <a:xfrm>
            <a:off x="548640" y="5120640"/>
            <a:ext cx="11064240" cy="960120"/>
          </a:xfrm>
          <a:prstGeom prst="roundRect">
            <a:avLst>
              <a:gd name="adj" fmla="val 6667"/>
            </a:avLst>
          </a:prstGeom>
          <a:solidFill>
            <a:srgbClr val="13293F"/>
          </a:solidFill>
          <a:ln w="12700">
            <a:solidFill>
              <a:srgbClr val="1F3B57"/>
            </a:solidFill>
            <a:prstDash val="solid"/>
          </a:ln>
        </p:spPr>
      </p:sp>
      <p:sp>
        <p:nvSpPr>
          <p:cNvPr id="17" name="Shape 15"/>
          <p:cNvSpPr/>
          <p:nvPr/>
        </p:nvSpPr>
        <p:spPr>
          <a:xfrm>
            <a:off x="548640" y="5120640"/>
            <a:ext cx="73152" cy="960120"/>
          </a:xfrm>
          <a:prstGeom prst="rect">
            <a:avLst/>
          </a:prstGeom>
          <a:solidFill>
            <a:srgbClr val="E8607A"/>
          </a:solidFill>
          <a:ln/>
        </p:spPr>
      </p:sp>
      <p:sp>
        <p:nvSpPr>
          <p:cNvPr id="18" name="Text 16"/>
          <p:cNvSpPr/>
          <p:nvPr/>
        </p:nvSpPr>
        <p:spPr>
          <a:xfrm>
            <a:off x="914400" y="5257800"/>
            <a:ext cx="3291840" cy="6858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Grouping</a:t>
            </a:r>
            <a:endParaRPr lang="en-US" sz="1500" dirty="0"/>
          </a:p>
        </p:txBody>
      </p:sp>
      <p:sp>
        <p:nvSpPr>
          <p:cNvPr id="19" name="Text 17"/>
          <p:cNvSpPr/>
          <p:nvPr/>
        </p:nvSpPr>
        <p:spPr>
          <a:xfrm>
            <a:off x="4389120" y="5257800"/>
            <a:ext cx="6949440" cy="685800"/>
          </a:xfrm>
          <a:prstGeom prst="rect">
            <a:avLst/>
          </a:prstGeom>
          <a:noFill/>
          <a:ln/>
        </p:spPr>
        <p:txBody>
          <a:bodyPr wrap="square" rtlCol="0" anchor="ctr"/>
          <a:lstStyle/>
          <a:p>
            <a:pPr indent="0" marL="0">
              <a:buNone/>
            </a:pPr>
            <a:r>
              <a:rPr lang="en-US" sz="1250" dirty="0">
                <a:solidFill>
                  <a:srgbClr val="9FB3C8"/>
                </a:solidFill>
                <a:latin typeface="Calibri" pitchFamily="34" charset="0"/>
                <a:ea typeface="Calibri" pitchFamily="34" charset="-122"/>
                <a:cs typeface="Calibri" pitchFamily="34" charset="-120"/>
              </a:rPr>
              <a:t>Multi-key GROUP BY-equivalent analysis with named aggregations</a:t>
            </a:r>
            <a:endParaRPr lang="en-US" sz="1250" dirty="0"/>
          </a:p>
        </p:txBody>
      </p:sp>
      <p:sp>
        <p:nvSpPr>
          <p:cNvPr id="20" name="Text 18"/>
          <p:cNvSpPr/>
          <p:nvPr/>
        </p:nvSpPr>
        <p:spPr>
          <a:xfrm>
            <a:off x="11475720" y="6446520"/>
            <a:ext cx="548640" cy="274320"/>
          </a:xfrm>
          <a:prstGeom prst="rect">
            <a:avLst/>
          </a:prstGeom>
          <a:noFill/>
          <a:ln/>
        </p:spPr>
        <p:txBody>
          <a:bodyPr wrap="square" rtlCol="0" anchor="ctr"/>
          <a:lstStyle/>
          <a:p>
            <a:pPr indent="0" marL="0">
              <a:buNone/>
            </a:pPr>
            <a:r>
              <a:rPr lang="en-US" sz="1000" dirty="0">
                <a:solidFill>
                  <a:srgbClr val="9FB3C8"/>
                </a:solidFill>
                <a:latin typeface="Consolas" pitchFamily="34" charset="0"/>
                <a:ea typeface="Consolas" pitchFamily="34" charset="-122"/>
                <a:cs typeface="Consolas"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E33"/>
        </a:solidFill>
      </p:bgPr>
    </p:bg>
    <p:spTree>
      <p:nvGrpSpPr>
        <p:cNvPr id="1" name=""/>
        <p:cNvGrpSpPr/>
        <p:nvPr/>
      </p:nvGrpSpPr>
      <p:grpSpPr>
        <a:xfrm>
          <a:off x="0" y="0"/>
          <a:ext cx="0" cy="0"/>
          <a:chOff x="0" y="0"/>
          <a:chExt cx="0" cy="0"/>
        </a:xfrm>
      </p:grpSpPr>
      <p:sp>
        <p:nvSpPr>
          <p:cNvPr id="2" name="Text 0"/>
          <p:cNvSpPr/>
          <p:nvPr/>
        </p:nvSpPr>
        <p:spPr>
          <a:xfrm>
            <a:off x="640080" y="2468880"/>
            <a:ext cx="9144000" cy="8229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Project 3 — Complete</a:t>
            </a:r>
            <a:endParaRPr lang="en-US" sz="4000" dirty="0"/>
          </a:p>
        </p:txBody>
      </p:sp>
      <p:sp>
        <p:nvSpPr>
          <p:cNvPr id="3" name="Shape 1"/>
          <p:cNvSpPr/>
          <p:nvPr/>
        </p:nvSpPr>
        <p:spPr>
          <a:xfrm>
            <a:off x="658368" y="3246120"/>
            <a:ext cx="2011680" cy="0"/>
          </a:xfrm>
          <a:prstGeom prst="line">
            <a:avLst/>
          </a:prstGeom>
          <a:noFill/>
          <a:ln w="38100">
            <a:solidFill>
              <a:srgbClr val="F5A524"/>
            </a:solidFill>
            <a:prstDash val="solid"/>
          </a:ln>
        </p:spPr>
      </p:sp>
      <p:sp>
        <p:nvSpPr>
          <p:cNvPr id="4" name="Text 2"/>
          <p:cNvSpPr/>
          <p:nvPr/>
        </p:nvSpPr>
        <p:spPr>
          <a:xfrm>
            <a:off x="640080" y="3474720"/>
            <a:ext cx="8686800" cy="822960"/>
          </a:xfrm>
          <a:prstGeom prst="rect">
            <a:avLst/>
          </a:prstGeom>
          <a:noFill/>
          <a:ln/>
        </p:spPr>
        <p:txBody>
          <a:bodyPr wrap="square" rtlCol="0" anchor="ctr"/>
          <a:lstStyle/>
          <a:p>
            <a:pPr indent="0" marL="0">
              <a:lnSpc>
                <a:spcPct val="130000"/>
              </a:lnSpc>
              <a:buNone/>
            </a:pPr>
            <a:r>
              <a:rPr lang="en-US" sz="1450" dirty="0">
                <a:solidFill>
                  <a:srgbClr val="9FB3C8"/>
                </a:solidFill>
                <a:latin typeface="Calibri" pitchFamily="34" charset="0"/>
                <a:ea typeface="Calibri" pitchFamily="34" charset="-122"/>
                <a:cs typeface="Calibri" pitchFamily="34" charset="-120"/>
              </a:rPr>
              <a:t>Filtering, sorting, aggregating, and grouping are implemented and mapped 1:1 to their SQL equivalents. Next: fill in the runtime output values and move to Project 4.</a:t>
            </a:r>
            <a:endParaRPr lang="en-US" sz="1450" dirty="0"/>
          </a:p>
        </p:txBody>
      </p:sp>
      <p:sp>
        <p:nvSpPr>
          <p:cNvPr id="5" name="Text 3"/>
          <p:cNvSpPr/>
          <p:nvPr/>
        </p:nvSpPr>
        <p:spPr>
          <a:xfrm>
            <a:off x="640080" y="6217920"/>
            <a:ext cx="9144000" cy="320040"/>
          </a:xfrm>
          <a:prstGeom prst="rect">
            <a:avLst/>
          </a:prstGeom>
          <a:noFill/>
          <a:ln/>
        </p:spPr>
        <p:txBody>
          <a:bodyPr wrap="square" rtlCol="0" anchor="ctr"/>
          <a:lstStyle/>
          <a:p>
            <a:pPr indent="0" marL="0">
              <a:buNone/>
            </a:pPr>
            <a:r>
              <a:rPr lang="en-US" sz="1100" dirty="0">
                <a:solidFill>
                  <a:srgbClr val="5E7A94"/>
                </a:solidFill>
                <a:latin typeface="Consolas" pitchFamily="34" charset="0"/>
                <a:ea typeface="Consolas" pitchFamily="34" charset="-122"/>
                <a:cs typeface="Consolas" pitchFamily="34" charset="-120"/>
              </a:rPr>
              <a:t>DecodeLabs  ·  decodelabs.tech@gmail.com  ·  Greater Lucknow,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2026-07-11T07:59:11Z</dcterms:created>
  <dcterms:modified xsi:type="dcterms:W3CDTF">2026-07-11T07:59:11Z</dcterms:modified>
</cp:coreProperties>
</file>